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3716000" cy="18288000"/>
  <p:notesSz cx="18288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18287999"/>
          </a:xfrm>
          <a:prstGeom prst="rect">
            <a:avLst/>
          </a:prstGeom>
          <a:ln/>
          <a:effectLst>
            <a:outerShdw sx="100000" sy="100000" kx="0" ky="0" algn="bl" rotWithShape="0" blurRad="381000" dist="762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476250"/>
            <a:ext cx="13716000" cy="21585489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6250"/>
            <a:ext cx="13716000" cy="21585489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6250"/>
            <a:ext cx="13716000" cy="541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08649"/>
            <a:ext cx="1371600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4759" y="637661"/>
            <a:ext cx="209509" cy="209509"/>
          </a:xfrm>
          <a:prstGeom prst="roundRect">
            <a:avLst>
              <a:gd name="adj" fmla="val 22732"/>
            </a:avLst>
          </a:prstGeom>
          <a:solidFill>
            <a:srgbClr val="C2542D"/>
          </a:solidFill>
          <a:ln/>
        </p:spPr>
      </p:sp>
      <p:sp>
        <p:nvSpPr>
          <p:cNvPr id="8" name="Text 6"/>
          <p:cNvSpPr/>
          <p:nvPr/>
        </p:nvSpPr>
        <p:spPr>
          <a:xfrm>
            <a:off x="382556" y="670944"/>
            <a:ext cx="1300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90442" y="662285"/>
            <a:ext cx="66454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5" kern="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SnapLead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350209" y="671012"/>
            <a:ext cx="114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556066" y="671012"/>
            <a:ext cx="4136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064923" y="671012"/>
            <a:ext cx="114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270779" y="671012"/>
            <a:ext cx="79889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Pluvia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382115" y="673177"/>
            <a:ext cx="174436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Capturé le23 mai 2026 à 17:42</a:t>
            </a:r>
            <a:endParaRPr lang="en-US" sz="938" dirty="0"/>
          </a:p>
        </p:txBody>
      </p:sp>
      <p:sp>
        <p:nvSpPr>
          <p:cNvPr id="15" name="Shape 13"/>
          <p:cNvSpPr/>
          <p:nvPr/>
        </p:nvSpPr>
        <p:spPr>
          <a:xfrm>
            <a:off x="12316947" y="713901"/>
            <a:ext cx="57096" cy="57096"/>
          </a:xfrm>
          <a:prstGeom prst="ellipse">
            <a:avLst/>
          </a:prstGeom>
          <a:solidFill>
            <a:srgbClr val="1F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12431139" y="666682"/>
            <a:ext cx="961051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à contacter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1000" y="1398308"/>
            <a:ext cx="1450195" cy="214718"/>
          </a:xfrm>
          <a:prstGeom prst="roundRect">
            <a:avLst>
              <a:gd name="adj" fmla="val 50000"/>
            </a:avLst>
          </a:prstGeom>
          <a:solidFill>
            <a:srgbClr val="C2542D">
              <a:alpha val="10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11" y="1453307"/>
            <a:ext cx="104721" cy="10472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8528" y="1436394"/>
            <a:ext cx="119315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254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Capturé sur le terrain</a:t>
            </a:r>
            <a:endParaRPr lang="en-US" sz="863" dirty="0"/>
          </a:p>
        </p:txBody>
      </p:sp>
      <p:sp>
        <p:nvSpPr>
          <p:cNvPr id="20" name="Text 17"/>
          <p:cNvSpPr/>
          <p:nvPr/>
        </p:nvSpPr>
        <p:spPr>
          <a:xfrm>
            <a:off x="1926445" y="1436394"/>
            <a:ext cx="187235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Émile Zola · Villeurbanne (69)</a:t>
            </a:r>
            <a:endParaRPr lang="en-US" sz="863" dirty="0"/>
          </a:p>
        </p:txBody>
      </p:sp>
      <p:sp>
        <p:nvSpPr>
          <p:cNvPr id="21" name="Text 18"/>
          <p:cNvSpPr/>
          <p:nvPr/>
        </p:nvSpPr>
        <p:spPr>
          <a:xfrm>
            <a:off x="381000" y="1784449"/>
            <a:ext cx="7107358" cy="907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450" spc="-22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</a:t>
            </a:r>
            <a:pPr algn="l" indent="0" marL="0">
              <a:lnSpc>
                <a:spcPct val="95000"/>
              </a:lnSpc>
              <a:buNone/>
            </a:pPr>
            <a:r>
              <a:rPr lang="en-US" sz="6450" i="1" spc="-22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Pluvia</a:t>
            </a:r>
            <a:endParaRPr lang="en-US" sz="6450" dirty="0"/>
          </a:p>
        </p:txBody>
      </p:sp>
      <p:sp>
        <p:nvSpPr>
          <p:cNvPr id="22" name="Shape 19"/>
          <p:cNvSpPr/>
          <p:nvPr/>
        </p:nvSpPr>
        <p:spPr>
          <a:xfrm>
            <a:off x="381000" y="2840588"/>
            <a:ext cx="726146" cy="172235"/>
          </a:xfrm>
          <a:prstGeom prst="roundRect">
            <a:avLst>
              <a:gd name="adj" fmla="val 22121"/>
            </a:avLst>
          </a:prstGeom>
          <a:solidFill>
            <a:srgbClr val="F1EDE4"/>
          </a:solidFill>
          <a:ln/>
        </p:spPr>
      </p:sp>
      <p:sp>
        <p:nvSpPr>
          <p:cNvPr id="23" name="Text 20"/>
          <p:cNvSpPr/>
          <p:nvPr/>
        </p:nvSpPr>
        <p:spPr>
          <a:xfrm>
            <a:off x="447675" y="2859638"/>
            <a:ext cx="668996" cy="172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7" kern="0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 4399C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202396" y="2824961"/>
            <a:ext cx="26118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Étanchéité · Couverture · Zinguerie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81000" y="3301143"/>
            <a:ext cx="263872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</a:t>
            </a:r>
            <a:endParaRPr lang="en-US" sz="863" dirty="0"/>
          </a:p>
        </p:txBody>
      </p:sp>
      <p:sp>
        <p:nvSpPr>
          <p:cNvPr id="26" name="Text 23"/>
          <p:cNvSpPr/>
          <p:nvPr/>
        </p:nvSpPr>
        <p:spPr>
          <a:xfrm>
            <a:off x="381000" y="3477775"/>
            <a:ext cx="2638729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rue F. de Pressensé, 69100 Villeurbanne</a:t>
            </a:r>
            <a:endParaRPr lang="en-US" sz="1013" dirty="0"/>
          </a:p>
        </p:txBody>
      </p:sp>
      <p:sp>
        <p:nvSpPr>
          <p:cNvPr id="27" name="Text 24"/>
          <p:cNvSpPr/>
          <p:nvPr/>
        </p:nvSpPr>
        <p:spPr>
          <a:xfrm>
            <a:off x="3247633" y="3301143"/>
            <a:ext cx="115635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28" name="Text 25"/>
          <p:cNvSpPr/>
          <p:nvPr/>
        </p:nvSpPr>
        <p:spPr>
          <a:xfrm>
            <a:off x="3247633" y="3477775"/>
            <a:ext cx="1156354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04 78 84 22 19</a:t>
            </a:r>
            <a:endParaRPr lang="en-US" sz="1013" dirty="0"/>
          </a:p>
        </p:txBody>
      </p:sp>
      <p:sp>
        <p:nvSpPr>
          <p:cNvPr id="29" name="Text 26"/>
          <p:cNvSpPr/>
          <p:nvPr/>
        </p:nvSpPr>
        <p:spPr>
          <a:xfrm>
            <a:off x="4632546" y="3301143"/>
            <a:ext cx="138778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</a:t>
            </a:r>
            <a:endParaRPr lang="en-US" sz="863" dirty="0"/>
          </a:p>
        </p:txBody>
      </p:sp>
      <p:sp>
        <p:nvSpPr>
          <p:cNvPr id="30" name="Text 27"/>
          <p:cNvSpPr/>
          <p:nvPr/>
        </p:nvSpPr>
        <p:spPr>
          <a:xfrm>
            <a:off x="4632546" y="3477775"/>
            <a:ext cx="1387782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atelier-pluvia.fr</a:t>
            </a:r>
            <a:endParaRPr lang="en-US" sz="1013" dirty="0"/>
          </a:p>
        </p:txBody>
      </p:sp>
      <p:sp>
        <p:nvSpPr>
          <p:cNvPr id="31" name="Shape 28"/>
          <p:cNvSpPr/>
          <p:nvPr/>
        </p:nvSpPr>
        <p:spPr>
          <a:xfrm>
            <a:off x="7814694" y="1398308"/>
            <a:ext cx="5520305" cy="2503763"/>
          </a:xfrm>
          <a:prstGeom prst="roundRect">
            <a:avLst>
              <a:gd name="adj" fmla="val 456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90026" y="2298177"/>
            <a:ext cx="972348" cy="74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300" spc="-252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6300" dirty="0"/>
          </a:p>
        </p:txBody>
      </p:sp>
      <p:sp>
        <p:nvSpPr>
          <p:cNvPr id="33" name="Text 30"/>
          <p:cNvSpPr/>
          <p:nvPr/>
        </p:nvSpPr>
        <p:spPr>
          <a:xfrm>
            <a:off x="9043270" y="2666188"/>
            <a:ext cx="549203" cy="26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A82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/100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9782946" y="1719979"/>
            <a:ext cx="76173" cy="76173"/>
          </a:xfrm>
          <a:prstGeom prst="ellipse">
            <a:avLst/>
          </a:prstGeom>
          <a:solidFill>
            <a:srgbClr val="1F7A52"/>
          </a:solidFill>
          <a:ln/>
        </p:spPr>
      </p:sp>
      <p:sp>
        <p:nvSpPr>
          <p:cNvPr id="35" name="Text 32"/>
          <p:cNvSpPr/>
          <p:nvPr/>
        </p:nvSpPr>
        <p:spPr>
          <a:xfrm>
            <a:off x="9935292" y="1673640"/>
            <a:ext cx="798963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élevé</a:t>
            </a:r>
            <a:endParaRPr lang="en-US" sz="1013" dirty="0"/>
          </a:p>
        </p:txBody>
      </p:sp>
      <p:sp>
        <p:nvSpPr>
          <p:cNvPr id="36" name="Text 33"/>
          <p:cNvSpPr/>
          <p:nvPr/>
        </p:nvSpPr>
        <p:spPr>
          <a:xfrm>
            <a:off x="11736653" y="1687914"/>
            <a:ext cx="139921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5signaux confirmés sur6</a:t>
            </a:r>
            <a:endParaRPr lang="en-US" sz="863" dirty="0"/>
          </a:p>
        </p:txBody>
      </p:sp>
      <p:sp>
        <p:nvSpPr>
          <p:cNvPr id="37" name="Shape 34"/>
          <p:cNvSpPr/>
          <p:nvPr/>
        </p:nvSpPr>
        <p:spPr>
          <a:xfrm>
            <a:off x="9782946" y="1937742"/>
            <a:ext cx="964271" cy="57096"/>
          </a:xfrm>
          <a:prstGeom prst="roundRect">
            <a:avLst>
              <a:gd name="adj" fmla="val 33365"/>
            </a:avLst>
          </a:prstGeom>
          <a:solidFill>
            <a:srgbClr val="1F7A52"/>
          </a:solidFill>
          <a:ln/>
        </p:spPr>
      </p:sp>
      <p:sp>
        <p:nvSpPr>
          <p:cNvPr id="38" name="Shape 35"/>
          <p:cNvSpPr/>
          <p:nvPr/>
        </p:nvSpPr>
        <p:spPr>
          <a:xfrm>
            <a:off x="10775765" y="1937742"/>
            <a:ext cx="482135" cy="57096"/>
          </a:xfrm>
          <a:prstGeom prst="roundRect">
            <a:avLst>
              <a:gd name="adj" fmla="val 33365"/>
            </a:avLst>
          </a:prstGeom>
          <a:solidFill>
            <a:srgbClr val="1F7A52"/>
          </a:solidFill>
          <a:ln/>
        </p:spPr>
      </p:sp>
      <p:sp>
        <p:nvSpPr>
          <p:cNvPr id="39" name="Shape 36"/>
          <p:cNvSpPr/>
          <p:nvPr/>
        </p:nvSpPr>
        <p:spPr>
          <a:xfrm>
            <a:off x="11286448" y="1937742"/>
            <a:ext cx="723237" cy="57096"/>
          </a:xfrm>
          <a:prstGeom prst="roundRect">
            <a:avLst>
              <a:gd name="adj" fmla="val 33365"/>
            </a:avLst>
          </a:prstGeom>
          <a:solidFill>
            <a:srgbClr val="1F7A52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38233" y="1937742"/>
            <a:ext cx="482135" cy="57096"/>
          </a:xfrm>
          <a:prstGeom prst="roundRect">
            <a:avLst>
              <a:gd name="adj" fmla="val 33365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2548917" y="1937742"/>
            <a:ext cx="241102" cy="57096"/>
          </a:xfrm>
          <a:prstGeom prst="roundRect">
            <a:avLst>
              <a:gd name="adj" fmla="val 33365"/>
            </a:avLst>
          </a:prstGeom>
          <a:solidFill>
            <a:srgbClr val="1F7A52"/>
          </a:solidFill>
          <a:ln/>
        </p:spPr>
      </p:sp>
      <p:sp>
        <p:nvSpPr>
          <p:cNvPr id="42" name="Shape 39"/>
          <p:cNvSpPr/>
          <p:nvPr/>
        </p:nvSpPr>
        <p:spPr>
          <a:xfrm>
            <a:off x="12818566" y="1937742"/>
            <a:ext cx="241102" cy="57096"/>
          </a:xfrm>
          <a:prstGeom prst="roundRect">
            <a:avLst>
              <a:gd name="adj" fmla="val 33365"/>
            </a:avLst>
          </a:prstGeom>
          <a:solidFill>
            <a:srgbClr val="1F7A52"/>
          </a:solidFill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946" y="2131692"/>
            <a:ext cx="104721" cy="104721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9982917" y="2128174"/>
            <a:ext cx="274707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 confirmé Sirene</a:t>
            </a:r>
            <a:endParaRPr lang="en-US" sz="938" dirty="0"/>
          </a:p>
        </p:txBody>
      </p:sp>
      <p:sp>
        <p:nvSpPr>
          <p:cNvPr id="45" name="Text 41"/>
          <p:cNvSpPr/>
          <p:nvPr/>
        </p:nvSpPr>
        <p:spPr>
          <a:xfrm>
            <a:off x="12745235" y="2138998"/>
            <a:ext cx="390633" cy="154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+0.40</a:t>
            </a:r>
            <a:endParaRPr lang="en-US" sz="825" dirty="0"/>
          </a:p>
        </p:txBody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946" y="2327334"/>
            <a:ext cx="104721" cy="104721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982917" y="2323816"/>
            <a:ext cx="274707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↔ raison sociale (fuzzy 94%)</a:t>
            </a:r>
            <a:endParaRPr lang="en-US" sz="938" dirty="0"/>
          </a:p>
        </p:txBody>
      </p:sp>
      <p:sp>
        <p:nvSpPr>
          <p:cNvPr id="48" name="Text 43"/>
          <p:cNvSpPr/>
          <p:nvPr/>
        </p:nvSpPr>
        <p:spPr>
          <a:xfrm>
            <a:off x="12745235" y="2334640"/>
            <a:ext cx="390633" cy="154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+0.20</a:t>
            </a:r>
            <a:endParaRPr lang="en-US" sz="825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946" y="2522975"/>
            <a:ext cx="104721" cy="104721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9982917" y="2519457"/>
            <a:ext cx="274707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 ↔ fiche Pappers</a:t>
            </a:r>
            <a:endParaRPr lang="en-US" sz="938" dirty="0"/>
          </a:p>
        </p:txBody>
      </p:sp>
      <p:sp>
        <p:nvSpPr>
          <p:cNvPr id="51" name="Text 45"/>
          <p:cNvSpPr/>
          <p:nvPr/>
        </p:nvSpPr>
        <p:spPr>
          <a:xfrm>
            <a:off x="12745235" y="2530281"/>
            <a:ext cx="390633" cy="154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+0.30</a:t>
            </a:r>
            <a:endParaRPr lang="en-US" sz="825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946" y="2718616"/>
            <a:ext cx="104721" cy="104721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9982917" y="2715099"/>
            <a:ext cx="274707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web ↔ Pappers</a:t>
            </a:r>
            <a:endParaRPr lang="en-US" sz="938" dirty="0"/>
          </a:p>
        </p:txBody>
      </p:sp>
      <p:sp>
        <p:nvSpPr>
          <p:cNvPr id="54" name="Text 47"/>
          <p:cNvSpPr/>
          <p:nvPr/>
        </p:nvSpPr>
        <p:spPr>
          <a:xfrm>
            <a:off x="12745235" y="2725922"/>
            <a:ext cx="390633" cy="154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+0.20</a:t>
            </a:r>
            <a:endParaRPr lang="en-US" sz="825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2946" y="2914258"/>
            <a:ext cx="104721" cy="104721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9982917" y="2910740"/>
            <a:ext cx="274707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 cohérente</a:t>
            </a:r>
            <a:endParaRPr lang="en-US" sz="938" dirty="0"/>
          </a:p>
        </p:txBody>
      </p:sp>
      <p:sp>
        <p:nvSpPr>
          <p:cNvPr id="57" name="Text 49"/>
          <p:cNvSpPr/>
          <p:nvPr/>
        </p:nvSpPr>
        <p:spPr>
          <a:xfrm>
            <a:off x="12745235" y="2921564"/>
            <a:ext cx="390633" cy="154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+0.10</a:t>
            </a:r>
            <a:endParaRPr lang="en-US" sz="825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2946" y="3109899"/>
            <a:ext cx="104721" cy="104721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9982917" y="3106381"/>
            <a:ext cx="274707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NAF ↔ activité observée</a:t>
            </a:r>
            <a:endParaRPr lang="en-US" sz="938" dirty="0"/>
          </a:p>
        </p:txBody>
      </p:sp>
      <p:sp>
        <p:nvSpPr>
          <p:cNvPr id="60" name="Text 51"/>
          <p:cNvSpPr/>
          <p:nvPr/>
        </p:nvSpPr>
        <p:spPr>
          <a:xfrm>
            <a:off x="12745235" y="3117205"/>
            <a:ext cx="390633" cy="154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+0.10</a:t>
            </a:r>
            <a:endParaRPr lang="en-US" sz="825" dirty="0"/>
          </a:p>
        </p:txBody>
      </p:sp>
      <p:sp>
        <p:nvSpPr>
          <p:cNvPr id="61" name="Shape 52"/>
          <p:cNvSpPr/>
          <p:nvPr/>
        </p:nvSpPr>
        <p:spPr>
          <a:xfrm>
            <a:off x="9782946" y="3397272"/>
            <a:ext cx="3276722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62" name="Text 53"/>
          <p:cNvSpPr/>
          <p:nvPr/>
        </p:nvSpPr>
        <p:spPr>
          <a:xfrm>
            <a:off x="9782946" y="3501182"/>
            <a:ext cx="1829666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croisées : Sirene · Pappers</a:t>
            </a:r>
            <a:endParaRPr lang="en-US" sz="863" dirty="0"/>
          </a:p>
        </p:txBody>
      </p:sp>
      <p:sp>
        <p:nvSpPr>
          <p:cNvPr id="63" name="Text 54"/>
          <p:cNvSpPr/>
          <p:nvPr/>
        </p:nvSpPr>
        <p:spPr>
          <a:xfrm>
            <a:off x="12095058" y="3501182"/>
            <a:ext cx="1040809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à jour à l'instant</a:t>
            </a:r>
            <a:endParaRPr lang="en-US" sz="863" dirty="0"/>
          </a:p>
        </p:txBody>
      </p:sp>
      <p:sp>
        <p:nvSpPr>
          <p:cNvPr id="64" name="Shape 55"/>
          <p:cNvSpPr/>
          <p:nvPr/>
        </p:nvSpPr>
        <p:spPr>
          <a:xfrm>
            <a:off x="381000" y="4206830"/>
            <a:ext cx="12954000" cy="591321"/>
          </a:xfrm>
          <a:prstGeom prst="roundRect">
            <a:avLst>
              <a:gd name="adj" fmla="val 16108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65" name="Text 56"/>
          <p:cNvSpPr/>
          <p:nvPr/>
        </p:nvSpPr>
        <p:spPr>
          <a:xfrm>
            <a:off x="542005" y="4329748"/>
            <a:ext cx="172041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</a:t>
            </a:r>
            <a:endParaRPr lang="en-US" sz="863" dirty="0"/>
          </a:p>
        </p:txBody>
      </p:sp>
      <p:sp>
        <p:nvSpPr>
          <p:cNvPr id="66" name="Text 57"/>
          <p:cNvSpPr/>
          <p:nvPr/>
        </p:nvSpPr>
        <p:spPr>
          <a:xfrm>
            <a:off x="542005" y="4506380"/>
            <a:ext cx="1720412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832 451 904</a:t>
            </a:r>
            <a:endParaRPr lang="en-US" sz="1013" dirty="0"/>
          </a:p>
        </p:txBody>
      </p:sp>
      <p:sp>
        <p:nvSpPr>
          <p:cNvPr id="67" name="Shape 58"/>
          <p:cNvSpPr/>
          <p:nvPr/>
        </p:nvSpPr>
        <p:spPr>
          <a:xfrm>
            <a:off x="2338563" y="4215489"/>
            <a:ext cx="9525" cy="574003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68" name="Text 59"/>
          <p:cNvSpPr/>
          <p:nvPr/>
        </p:nvSpPr>
        <p:spPr>
          <a:xfrm>
            <a:off x="2500380" y="4329748"/>
            <a:ext cx="231836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SIRET</a:t>
            </a:r>
            <a:endParaRPr lang="en-US" sz="863" dirty="0"/>
          </a:p>
        </p:txBody>
      </p:sp>
      <p:sp>
        <p:nvSpPr>
          <p:cNvPr id="69" name="Text 60"/>
          <p:cNvSpPr/>
          <p:nvPr/>
        </p:nvSpPr>
        <p:spPr>
          <a:xfrm>
            <a:off x="2500380" y="4506380"/>
            <a:ext cx="2318363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832 451 904 00018</a:t>
            </a:r>
            <a:endParaRPr lang="en-US" sz="1013" dirty="0"/>
          </a:p>
        </p:txBody>
      </p:sp>
      <p:sp>
        <p:nvSpPr>
          <p:cNvPr id="70" name="Shape 61"/>
          <p:cNvSpPr/>
          <p:nvPr/>
        </p:nvSpPr>
        <p:spPr>
          <a:xfrm>
            <a:off x="4894889" y="4215489"/>
            <a:ext cx="9525" cy="574003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71" name="Text 62"/>
          <p:cNvSpPr/>
          <p:nvPr/>
        </p:nvSpPr>
        <p:spPr>
          <a:xfrm>
            <a:off x="5056706" y="4329748"/>
            <a:ext cx="127203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NAF</a:t>
            </a:r>
            <a:endParaRPr lang="en-US" sz="863" dirty="0"/>
          </a:p>
        </p:txBody>
      </p:sp>
      <p:sp>
        <p:nvSpPr>
          <p:cNvPr id="72" name="Text 63"/>
          <p:cNvSpPr/>
          <p:nvPr/>
        </p:nvSpPr>
        <p:spPr>
          <a:xfrm>
            <a:off x="5056706" y="4506380"/>
            <a:ext cx="1272034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4399C</a:t>
            </a:r>
            <a:endParaRPr lang="en-US" sz="1013" dirty="0"/>
          </a:p>
        </p:txBody>
      </p:sp>
      <p:sp>
        <p:nvSpPr>
          <p:cNvPr id="73" name="Shape 64"/>
          <p:cNvSpPr/>
          <p:nvPr/>
        </p:nvSpPr>
        <p:spPr>
          <a:xfrm>
            <a:off x="6404886" y="4215489"/>
            <a:ext cx="9525" cy="574003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74" name="Text 65"/>
          <p:cNvSpPr/>
          <p:nvPr/>
        </p:nvSpPr>
        <p:spPr>
          <a:xfrm>
            <a:off x="6566702" y="4329748"/>
            <a:ext cx="277125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Libellé NAF</a:t>
            </a:r>
            <a:endParaRPr lang="en-US" sz="863" dirty="0"/>
          </a:p>
        </p:txBody>
      </p:sp>
      <p:sp>
        <p:nvSpPr>
          <p:cNvPr id="75" name="Text 66"/>
          <p:cNvSpPr/>
          <p:nvPr/>
        </p:nvSpPr>
        <p:spPr>
          <a:xfrm>
            <a:off x="6566702" y="4506380"/>
            <a:ext cx="2771258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Travaux d'étanchéité</a:t>
            </a:r>
            <a:endParaRPr lang="en-US" sz="1013" dirty="0"/>
          </a:p>
        </p:txBody>
      </p:sp>
      <p:sp>
        <p:nvSpPr>
          <p:cNvPr id="76" name="Shape 67"/>
          <p:cNvSpPr/>
          <p:nvPr/>
        </p:nvSpPr>
        <p:spPr>
          <a:xfrm>
            <a:off x="9409590" y="4215489"/>
            <a:ext cx="9525" cy="574003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77" name="Text 68"/>
          <p:cNvSpPr/>
          <p:nvPr/>
        </p:nvSpPr>
        <p:spPr>
          <a:xfrm>
            <a:off x="9571407" y="4329748"/>
            <a:ext cx="172041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</a:t>
            </a:r>
            <a:endParaRPr lang="en-US" sz="863" dirty="0"/>
          </a:p>
        </p:txBody>
      </p:sp>
      <p:sp>
        <p:nvSpPr>
          <p:cNvPr id="78" name="Text 69"/>
          <p:cNvSpPr/>
          <p:nvPr/>
        </p:nvSpPr>
        <p:spPr>
          <a:xfrm>
            <a:off x="9571407" y="4506380"/>
            <a:ext cx="1720412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mars 2018</a:t>
            </a:r>
            <a:endParaRPr lang="en-US" sz="1013" dirty="0"/>
          </a:p>
        </p:txBody>
      </p:sp>
      <p:sp>
        <p:nvSpPr>
          <p:cNvPr id="79" name="Shape 70"/>
          <p:cNvSpPr/>
          <p:nvPr/>
        </p:nvSpPr>
        <p:spPr>
          <a:xfrm>
            <a:off x="11367965" y="4215489"/>
            <a:ext cx="9525" cy="574003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80" name="Text 71"/>
          <p:cNvSpPr/>
          <p:nvPr/>
        </p:nvSpPr>
        <p:spPr>
          <a:xfrm>
            <a:off x="11529782" y="4329748"/>
            <a:ext cx="172041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81" name="Text 72"/>
          <p:cNvSpPr/>
          <p:nvPr/>
        </p:nvSpPr>
        <p:spPr>
          <a:xfrm>
            <a:off x="11529782" y="4506380"/>
            <a:ext cx="1720412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à 9 salariés</a:t>
            </a:r>
            <a:endParaRPr lang="en-US" sz="1013" dirty="0"/>
          </a:p>
        </p:txBody>
      </p:sp>
      <p:sp>
        <p:nvSpPr>
          <p:cNvPr id="82" name="Text 73"/>
          <p:cNvSpPr/>
          <p:nvPr/>
        </p:nvSpPr>
        <p:spPr>
          <a:xfrm>
            <a:off x="381000" y="5102910"/>
            <a:ext cx="1363225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18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source</a:t>
            </a:r>
            <a:endParaRPr lang="en-US" sz="1800" dirty="0"/>
          </a:p>
        </p:txBody>
      </p:sp>
      <p:sp>
        <p:nvSpPr>
          <p:cNvPr id="83" name="Text 74"/>
          <p:cNvSpPr/>
          <p:nvPr/>
        </p:nvSpPr>
        <p:spPr>
          <a:xfrm>
            <a:off x="4326975" y="5202490"/>
            <a:ext cx="127372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automatique</a:t>
            </a:r>
            <a:endParaRPr lang="en-US" sz="863" dirty="0"/>
          </a:p>
        </p:txBody>
      </p:sp>
      <p:sp>
        <p:nvSpPr>
          <p:cNvPr id="84" name="Shape 75"/>
          <p:cNvSpPr/>
          <p:nvPr/>
        </p:nvSpPr>
        <p:spPr>
          <a:xfrm>
            <a:off x="381000" y="5496020"/>
            <a:ext cx="5143500" cy="3619500"/>
          </a:xfrm>
          <a:prstGeom prst="roundRect">
            <a:avLst>
              <a:gd name="adj" fmla="val 2105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85" name="Shape 76"/>
          <p:cNvSpPr/>
          <p:nvPr/>
        </p:nvSpPr>
        <p:spPr>
          <a:xfrm>
            <a:off x="902237" y="6729399"/>
            <a:ext cx="4203515" cy="1873205"/>
          </a:xfrm>
          <a:prstGeom prst="roundRect">
            <a:avLst>
              <a:gd name="adj" fmla="val 3051"/>
            </a:avLst>
          </a:prstGeom>
          <a:solidFill>
            <a:srgbClr val="141C2D"/>
          </a:solidFill>
          <a:ln/>
        </p:spPr>
      </p:sp>
      <p:sp>
        <p:nvSpPr>
          <p:cNvPr id="86" name="Shape 77"/>
          <p:cNvSpPr/>
          <p:nvPr/>
        </p:nvSpPr>
        <p:spPr>
          <a:xfrm>
            <a:off x="1414882" y="8314486"/>
            <a:ext cx="410089" cy="504257"/>
          </a:xfrm>
          <a:prstGeom prst="ellipse">
            <a:avLst/>
          </a:prstGeom>
          <a:solidFill>
            <a:srgbClr val="F6F4EF"/>
          </a:solidFill>
          <a:ln/>
        </p:spPr>
      </p:sp>
      <p:sp>
        <p:nvSpPr>
          <p:cNvPr id="87" name="Shape 78"/>
          <p:cNvSpPr/>
          <p:nvPr/>
        </p:nvSpPr>
        <p:spPr>
          <a:xfrm>
            <a:off x="4388129" y="8314486"/>
            <a:ext cx="410089" cy="504257"/>
          </a:xfrm>
          <a:prstGeom prst="ellipse">
            <a:avLst/>
          </a:prstGeom>
          <a:solidFill>
            <a:srgbClr val="F6F4EF"/>
          </a:solidFill>
          <a:ln/>
        </p:spPr>
      </p:sp>
      <p:sp>
        <p:nvSpPr>
          <p:cNvPr id="88" name="Shape 79"/>
          <p:cNvSpPr/>
          <p:nvPr/>
        </p:nvSpPr>
        <p:spPr>
          <a:xfrm>
            <a:off x="389659" y="8665179"/>
            <a:ext cx="5126182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89" name="Shape 80"/>
          <p:cNvSpPr/>
          <p:nvPr/>
        </p:nvSpPr>
        <p:spPr>
          <a:xfrm>
            <a:off x="1312326" y="6297121"/>
            <a:ext cx="3280713" cy="1873070"/>
          </a:xfrm>
          <a:prstGeom prst="roundRect">
            <a:avLst>
              <a:gd name="adj" fmla="val 2034"/>
            </a:avLst>
          </a:prstGeom>
          <a:ln w="12989">
            <a:solidFill>
              <a:srgbClr val="C2542D"/>
            </a:solidFill>
            <a:prstDash val="solid"/>
          </a:ln>
        </p:spPr>
      </p:sp>
      <p:sp>
        <p:nvSpPr>
          <p:cNvPr id="90" name="Shape 81"/>
          <p:cNvSpPr/>
          <p:nvPr/>
        </p:nvSpPr>
        <p:spPr>
          <a:xfrm>
            <a:off x="503919" y="5618938"/>
            <a:ext cx="1319226" cy="251114"/>
          </a:xfrm>
          <a:prstGeom prst="roundRect">
            <a:avLst>
              <a:gd name="adj" fmla="val 50000"/>
            </a:avLst>
          </a:prstGeom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9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828" y="5687331"/>
            <a:ext cx="114259" cy="114259"/>
          </a:xfrm>
          <a:prstGeom prst="rect">
            <a:avLst/>
          </a:prstGeom>
        </p:spPr>
      </p:pic>
      <p:sp>
        <p:nvSpPr>
          <p:cNvPr id="92" name="Text 82"/>
          <p:cNvSpPr/>
          <p:nvPr/>
        </p:nvSpPr>
        <p:spPr>
          <a:xfrm>
            <a:off x="779183" y="5675222"/>
            <a:ext cx="101625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champs extraits</a:t>
            </a:r>
            <a:endParaRPr lang="en-US" sz="863" dirty="0"/>
          </a:p>
        </p:txBody>
      </p:sp>
      <p:sp>
        <p:nvSpPr>
          <p:cNvPr id="93" name="Text 83"/>
          <p:cNvSpPr/>
          <p:nvPr/>
        </p:nvSpPr>
        <p:spPr>
          <a:xfrm>
            <a:off x="522996" y="8867044"/>
            <a:ext cx="1488917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Véhicule floqué · vue latérale</a:t>
            </a:r>
            <a:endParaRPr lang="en-US" sz="863" dirty="0"/>
          </a:p>
        </p:txBody>
      </p:sp>
      <p:sp>
        <p:nvSpPr>
          <p:cNvPr id="94" name="Text 84"/>
          <p:cNvSpPr/>
          <p:nvPr/>
        </p:nvSpPr>
        <p:spPr>
          <a:xfrm>
            <a:off x="4682268" y="8867044"/>
            <a:ext cx="776436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mai · 17:42</a:t>
            </a:r>
            <a:endParaRPr lang="en-US" sz="863" dirty="0"/>
          </a:p>
        </p:txBody>
      </p:sp>
      <p:sp>
        <p:nvSpPr>
          <p:cNvPr id="95" name="Shape 85"/>
          <p:cNvSpPr/>
          <p:nvPr/>
        </p:nvSpPr>
        <p:spPr>
          <a:xfrm>
            <a:off x="381000" y="9248856"/>
            <a:ext cx="5143500" cy="1792094"/>
          </a:xfrm>
          <a:prstGeom prst="roundRect">
            <a:avLst>
              <a:gd name="adj" fmla="val 531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96" name="Text 86"/>
          <p:cNvSpPr/>
          <p:nvPr/>
        </p:nvSpPr>
        <p:spPr>
          <a:xfrm>
            <a:off x="542005" y="9409861"/>
            <a:ext cx="936156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extraits</a:t>
            </a:r>
            <a:endParaRPr lang="en-US" sz="863" dirty="0"/>
          </a:p>
        </p:txBody>
      </p:sp>
      <p:sp>
        <p:nvSpPr>
          <p:cNvPr id="97" name="Text 87"/>
          <p:cNvSpPr/>
          <p:nvPr/>
        </p:nvSpPr>
        <p:spPr>
          <a:xfrm>
            <a:off x="4508410" y="9409861"/>
            <a:ext cx="93128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sur 4 reconnus</a:t>
            </a:r>
            <a:endParaRPr lang="en-US" sz="863" dirty="0"/>
          </a:p>
        </p:txBody>
      </p:sp>
      <p:sp>
        <p:nvSpPr>
          <p:cNvPr id="98" name="Shape 88"/>
          <p:cNvSpPr/>
          <p:nvPr/>
        </p:nvSpPr>
        <p:spPr>
          <a:xfrm>
            <a:off x="542005" y="9899032"/>
            <a:ext cx="482149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99" name="Text 89"/>
          <p:cNvSpPr/>
          <p:nvPr/>
        </p:nvSpPr>
        <p:spPr>
          <a:xfrm>
            <a:off x="542005" y="9673490"/>
            <a:ext cx="96930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commercial</a:t>
            </a:r>
            <a:endParaRPr lang="en-US" sz="938" dirty="0"/>
          </a:p>
        </p:txBody>
      </p:sp>
      <p:sp>
        <p:nvSpPr>
          <p:cNvPr id="100" name="Text 90"/>
          <p:cNvSpPr/>
          <p:nvPr/>
        </p:nvSpPr>
        <p:spPr>
          <a:xfrm>
            <a:off x="4424457" y="9662666"/>
            <a:ext cx="1015238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PLUVIA</a:t>
            </a:r>
            <a:endParaRPr lang="en-US" sz="975" dirty="0"/>
          </a:p>
        </p:txBody>
      </p:sp>
      <p:sp>
        <p:nvSpPr>
          <p:cNvPr id="101" name="Shape 91"/>
          <p:cNvSpPr/>
          <p:nvPr/>
        </p:nvSpPr>
        <p:spPr>
          <a:xfrm>
            <a:off x="542005" y="10220230"/>
            <a:ext cx="482149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02" name="Text 92"/>
          <p:cNvSpPr/>
          <p:nvPr/>
        </p:nvSpPr>
        <p:spPr>
          <a:xfrm>
            <a:off x="542005" y="9994688"/>
            <a:ext cx="45997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</a:t>
            </a:r>
            <a:endParaRPr lang="en-US" sz="938" dirty="0"/>
          </a:p>
        </p:txBody>
      </p:sp>
      <p:sp>
        <p:nvSpPr>
          <p:cNvPr id="103" name="Text 93"/>
          <p:cNvSpPr/>
          <p:nvPr/>
        </p:nvSpPr>
        <p:spPr>
          <a:xfrm>
            <a:off x="4011527" y="9983864"/>
            <a:ext cx="1428168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Étanchéité · Couverture</a:t>
            </a:r>
            <a:endParaRPr lang="en-US" sz="975" dirty="0"/>
          </a:p>
        </p:txBody>
      </p:sp>
      <p:sp>
        <p:nvSpPr>
          <p:cNvPr id="104" name="Shape 94"/>
          <p:cNvSpPr/>
          <p:nvPr/>
        </p:nvSpPr>
        <p:spPr>
          <a:xfrm>
            <a:off x="542005" y="10545757"/>
            <a:ext cx="482149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05" name="Text 95"/>
          <p:cNvSpPr/>
          <p:nvPr/>
        </p:nvSpPr>
        <p:spPr>
          <a:xfrm>
            <a:off x="542005" y="10318050"/>
            <a:ext cx="638906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938" dirty="0"/>
          </a:p>
        </p:txBody>
      </p:sp>
      <p:sp>
        <p:nvSpPr>
          <p:cNvPr id="106" name="Text 96"/>
          <p:cNvSpPr/>
          <p:nvPr/>
        </p:nvSpPr>
        <p:spPr>
          <a:xfrm>
            <a:off x="4323322" y="10305062"/>
            <a:ext cx="1116373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04 78 84 22 19</a:t>
            </a:r>
            <a:endParaRPr lang="en-US" sz="975" dirty="0"/>
          </a:p>
        </p:txBody>
      </p:sp>
      <p:sp>
        <p:nvSpPr>
          <p:cNvPr id="107" name="Shape 97"/>
          <p:cNvSpPr/>
          <p:nvPr/>
        </p:nvSpPr>
        <p:spPr>
          <a:xfrm>
            <a:off x="542005" y="10871285"/>
            <a:ext cx="482149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08" name="Text 98"/>
          <p:cNvSpPr/>
          <p:nvPr/>
        </p:nvSpPr>
        <p:spPr>
          <a:xfrm>
            <a:off x="542005" y="10643578"/>
            <a:ext cx="53289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</a:t>
            </a:r>
            <a:endParaRPr lang="en-US" sz="938" dirty="0"/>
          </a:p>
        </p:txBody>
      </p:sp>
      <p:sp>
        <p:nvSpPr>
          <p:cNvPr id="109" name="Text 99"/>
          <p:cNvSpPr/>
          <p:nvPr/>
        </p:nvSpPr>
        <p:spPr>
          <a:xfrm>
            <a:off x="4100485" y="10630589"/>
            <a:ext cx="1339210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atelier-pluvia.fr</a:t>
            </a:r>
            <a:endParaRPr lang="en-US" sz="975" dirty="0"/>
          </a:p>
        </p:txBody>
      </p:sp>
      <p:sp>
        <p:nvSpPr>
          <p:cNvPr id="110" name="Text 100"/>
          <p:cNvSpPr/>
          <p:nvPr/>
        </p:nvSpPr>
        <p:spPr>
          <a:xfrm>
            <a:off x="5829259" y="5102910"/>
            <a:ext cx="965516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18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</a:t>
            </a:r>
            <a:endParaRPr lang="en-US" sz="1800" dirty="0"/>
          </a:p>
        </p:txBody>
      </p:sp>
      <p:sp>
        <p:nvSpPr>
          <p:cNvPr id="111" name="Text 101"/>
          <p:cNvSpPr/>
          <p:nvPr/>
        </p:nvSpPr>
        <p:spPr>
          <a:xfrm>
            <a:off x="11334411" y="5202490"/>
            <a:ext cx="207678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Générée à partir des sources publiques</a:t>
            </a:r>
            <a:endParaRPr lang="en-US" sz="863" dirty="0"/>
          </a:p>
        </p:txBody>
      </p:sp>
      <p:sp>
        <p:nvSpPr>
          <p:cNvPr id="112" name="Text 102"/>
          <p:cNvSpPr/>
          <p:nvPr/>
        </p:nvSpPr>
        <p:spPr>
          <a:xfrm>
            <a:off x="5829259" y="5621576"/>
            <a:ext cx="62902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</a:t>
            </a:r>
            <a:endParaRPr lang="en-US" sz="863" dirty="0"/>
          </a:p>
        </p:txBody>
      </p:sp>
      <p:sp>
        <p:nvSpPr>
          <p:cNvPr id="113" name="Text 103"/>
          <p:cNvSpPr/>
          <p:nvPr/>
        </p:nvSpPr>
        <p:spPr>
          <a:xfrm>
            <a:off x="5829259" y="5840624"/>
            <a:ext cx="7730912" cy="825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spc="-7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Petit atelier indépendant, 6 ans d'ancienneté, équipe consolidée. Spécialité étanchéité bitumineuse + zinguerie patrimoniale — segment à marges. Croissance régulière, pas de fonds derrière. Décisionnaire unique : le gérant.</a:t>
            </a:r>
            <a:endParaRPr lang="en-US" sz="1425" dirty="0"/>
          </a:p>
        </p:txBody>
      </p:sp>
      <p:sp>
        <p:nvSpPr>
          <p:cNvPr id="114" name="Shape 104"/>
          <p:cNvSpPr/>
          <p:nvPr/>
        </p:nvSpPr>
        <p:spPr>
          <a:xfrm>
            <a:off x="5829259" y="6856241"/>
            <a:ext cx="750574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15" name="Text 105"/>
          <p:cNvSpPr/>
          <p:nvPr/>
        </p:nvSpPr>
        <p:spPr>
          <a:xfrm>
            <a:off x="5829259" y="7124605"/>
            <a:ext cx="169890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d'approche recommandé</a:t>
            </a:r>
            <a:endParaRPr lang="en-US" sz="863" dirty="0"/>
          </a:p>
        </p:txBody>
      </p:sp>
      <p:sp>
        <p:nvSpPr>
          <p:cNvPr id="116" name="Text 106"/>
          <p:cNvSpPr/>
          <p:nvPr/>
        </p:nvSpPr>
        <p:spPr>
          <a:xfrm>
            <a:off x="5829259" y="7343653"/>
            <a:ext cx="7730912" cy="766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Croisé physiquement sur Pressensé en fin de chantier. Mentionner le véhicule et la zone — ancrage terrain. Éviter l'angle softwarisation à froid : entrer par le compagnonnage et la gestion de planning équipe 6-9 (point de douleur connu à cette taille). »</a:t>
            </a:r>
            <a:endParaRPr lang="en-US" sz="1275" dirty="0"/>
          </a:p>
        </p:txBody>
      </p:sp>
      <p:sp>
        <p:nvSpPr>
          <p:cNvPr id="117" name="Shape 107"/>
          <p:cNvSpPr/>
          <p:nvPr/>
        </p:nvSpPr>
        <p:spPr>
          <a:xfrm>
            <a:off x="5829259" y="8301024"/>
            <a:ext cx="750574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18" name="Text 108"/>
          <p:cNvSpPr/>
          <p:nvPr/>
        </p:nvSpPr>
        <p:spPr>
          <a:xfrm>
            <a:off x="5829259" y="8539081"/>
            <a:ext cx="242572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119" name="Text 109"/>
          <p:cNvSpPr/>
          <p:nvPr/>
        </p:nvSpPr>
        <p:spPr>
          <a:xfrm>
            <a:off x="5829259" y="8715713"/>
            <a:ext cx="2425722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Romain Géraud</a:t>
            </a:r>
            <a:endParaRPr lang="en-US" sz="1050" dirty="0"/>
          </a:p>
        </p:txBody>
      </p:sp>
      <p:sp>
        <p:nvSpPr>
          <p:cNvPr id="120" name="Text 110"/>
          <p:cNvSpPr/>
          <p:nvPr/>
        </p:nvSpPr>
        <p:spPr>
          <a:xfrm>
            <a:off x="8407368" y="8539081"/>
            <a:ext cx="242572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 d'affaires</a:t>
            </a:r>
            <a:endParaRPr lang="en-US" sz="863" dirty="0"/>
          </a:p>
        </p:txBody>
      </p:sp>
      <p:sp>
        <p:nvSpPr>
          <p:cNvPr id="121" name="Text 111"/>
          <p:cNvSpPr/>
          <p:nvPr/>
        </p:nvSpPr>
        <p:spPr>
          <a:xfrm>
            <a:off x="8407368" y="8715713"/>
            <a:ext cx="2425722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740 K€ (2024)</a:t>
            </a:r>
            <a:endParaRPr lang="en-US" sz="1050" dirty="0"/>
          </a:p>
        </p:txBody>
      </p:sp>
      <p:sp>
        <p:nvSpPr>
          <p:cNvPr id="122" name="Text 112"/>
          <p:cNvSpPr/>
          <p:nvPr/>
        </p:nvSpPr>
        <p:spPr>
          <a:xfrm>
            <a:off x="10985477" y="8539081"/>
            <a:ext cx="242572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863" dirty="0"/>
          </a:p>
        </p:txBody>
      </p:sp>
      <p:sp>
        <p:nvSpPr>
          <p:cNvPr id="123" name="Text 113"/>
          <p:cNvSpPr/>
          <p:nvPr/>
        </p:nvSpPr>
        <p:spPr>
          <a:xfrm>
            <a:off x="10985477" y="8715713"/>
            <a:ext cx="2425722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Sirene · Pappers</a:t>
            </a:r>
            <a:endParaRPr lang="en-US" sz="1050" dirty="0"/>
          </a:p>
        </p:txBody>
      </p:sp>
      <p:sp>
        <p:nvSpPr>
          <p:cNvPr id="124" name="Shape 114"/>
          <p:cNvSpPr/>
          <p:nvPr/>
        </p:nvSpPr>
        <p:spPr>
          <a:xfrm>
            <a:off x="0" y="11421949"/>
            <a:ext cx="13716000" cy="50299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Shape 115"/>
          <p:cNvSpPr/>
          <p:nvPr/>
        </p:nvSpPr>
        <p:spPr>
          <a:xfrm>
            <a:off x="0" y="16443275"/>
            <a:ext cx="1371600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26" name="Shape 116"/>
          <p:cNvSpPr/>
          <p:nvPr/>
        </p:nvSpPr>
        <p:spPr>
          <a:xfrm>
            <a:off x="0" y="11421949"/>
            <a:ext cx="1371600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27" name="Text 117"/>
          <p:cNvSpPr/>
          <p:nvPr/>
        </p:nvSpPr>
        <p:spPr>
          <a:xfrm>
            <a:off x="381000" y="11765675"/>
            <a:ext cx="120878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254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Entreprises similaires</a:t>
            </a:r>
            <a:endParaRPr lang="en-US" sz="863" dirty="0"/>
          </a:p>
        </p:txBody>
      </p:sp>
      <p:sp>
        <p:nvSpPr>
          <p:cNvPr id="128" name="Text 118"/>
          <p:cNvSpPr/>
          <p:nvPr/>
        </p:nvSpPr>
        <p:spPr>
          <a:xfrm>
            <a:off x="381000" y="11984723"/>
            <a:ext cx="4775076" cy="445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54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profils</a:t>
            </a:r>
            <a:pPr algn="l" indent="0" marL="0">
              <a:buNone/>
            </a:pPr>
            <a:r>
              <a:rPr lang="en-US" sz="2700" i="1" spc="-54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la zone</a:t>
            </a:r>
            <a:endParaRPr lang="en-US" sz="2700" dirty="0"/>
          </a:p>
        </p:txBody>
      </p:sp>
      <p:sp>
        <p:nvSpPr>
          <p:cNvPr id="129" name="Text 119"/>
          <p:cNvSpPr/>
          <p:nvPr/>
        </p:nvSpPr>
        <p:spPr>
          <a:xfrm>
            <a:off x="381000" y="12448796"/>
            <a:ext cx="4775076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Pappers · NAF4399C· département 69 · effectif similaire · statut actif</a:t>
            </a:r>
            <a:endParaRPr lang="en-US" sz="1013" dirty="0"/>
          </a:p>
        </p:txBody>
      </p:sp>
      <p:sp>
        <p:nvSpPr>
          <p:cNvPr id="130" name="Text 120"/>
          <p:cNvSpPr/>
          <p:nvPr/>
        </p:nvSpPr>
        <p:spPr>
          <a:xfrm>
            <a:off x="10533689" y="12114609"/>
            <a:ext cx="6559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50" dirty="0"/>
          </a:p>
        </p:txBody>
      </p:sp>
      <p:sp>
        <p:nvSpPr>
          <p:cNvPr id="131" name="Text 121"/>
          <p:cNvSpPr/>
          <p:nvPr/>
        </p:nvSpPr>
        <p:spPr>
          <a:xfrm>
            <a:off x="10533689" y="12457455"/>
            <a:ext cx="65595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entreprises</a:t>
            </a:r>
            <a:endParaRPr lang="en-US" sz="863" dirty="0"/>
          </a:p>
        </p:txBody>
      </p:sp>
      <p:sp>
        <p:nvSpPr>
          <p:cNvPr id="132" name="Text 122"/>
          <p:cNvSpPr/>
          <p:nvPr/>
        </p:nvSpPr>
        <p:spPr>
          <a:xfrm>
            <a:off x="11342029" y="12114609"/>
            <a:ext cx="8810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</a:t>
            </a:r>
            <a:endParaRPr lang="en-US" sz="2250" dirty="0"/>
          </a:p>
        </p:txBody>
      </p:sp>
      <p:sp>
        <p:nvSpPr>
          <p:cNvPr id="133" name="Text 123"/>
          <p:cNvSpPr/>
          <p:nvPr/>
        </p:nvSpPr>
        <p:spPr>
          <a:xfrm>
            <a:off x="11342029" y="12457455"/>
            <a:ext cx="88109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en moyenne</a:t>
            </a:r>
            <a:endParaRPr lang="en-US" sz="863" dirty="0"/>
          </a:p>
        </p:txBody>
      </p:sp>
      <p:sp>
        <p:nvSpPr>
          <p:cNvPr id="134" name="Text 124"/>
          <p:cNvSpPr/>
          <p:nvPr/>
        </p:nvSpPr>
        <p:spPr>
          <a:xfrm>
            <a:off x="12375505" y="12114609"/>
            <a:ext cx="9594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50" dirty="0"/>
          </a:p>
        </p:txBody>
      </p:sp>
      <p:sp>
        <p:nvSpPr>
          <p:cNvPr id="135" name="Text 125"/>
          <p:cNvSpPr/>
          <p:nvPr/>
        </p:nvSpPr>
        <p:spPr>
          <a:xfrm>
            <a:off x="12375505" y="12457455"/>
            <a:ext cx="95949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appeler demain</a:t>
            </a:r>
            <a:endParaRPr lang="en-US" sz="863" dirty="0"/>
          </a:p>
        </p:txBody>
      </p:sp>
      <p:sp>
        <p:nvSpPr>
          <p:cNvPr id="136" name="Shape 126"/>
          <p:cNvSpPr/>
          <p:nvPr/>
        </p:nvSpPr>
        <p:spPr>
          <a:xfrm>
            <a:off x="381000" y="12786500"/>
            <a:ext cx="3138447" cy="3313929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137" name="Text 127"/>
          <p:cNvSpPr/>
          <p:nvPr/>
        </p:nvSpPr>
        <p:spPr>
          <a:xfrm>
            <a:off x="542005" y="12947505"/>
            <a:ext cx="193301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63" dirty="0"/>
          </a:p>
        </p:txBody>
      </p:sp>
      <p:sp>
        <p:nvSpPr>
          <p:cNvPr id="138" name="Text 128"/>
          <p:cNvSpPr/>
          <p:nvPr/>
        </p:nvSpPr>
        <p:spPr>
          <a:xfrm>
            <a:off x="2629725" y="12954000"/>
            <a:ext cx="404975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6.2km</a:t>
            </a:r>
            <a:endParaRPr lang="en-US" sz="863" dirty="0"/>
          </a:p>
        </p:txBody>
      </p:sp>
      <p:sp>
        <p:nvSpPr>
          <p:cNvPr id="139" name="Shape 129"/>
          <p:cNvSpPr/>
          <p:nvPr/>
        </p:nvSpPr>
        <p:spPr>
          <a:xfrm>
            <a:off x="3015596" y="12997701"/>
            <a:ext cx="342846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140" name="Shape 130"/>
          <p:cNvSpPr/>
          <p:nvPr/>
        </p:nvSpPr>
        <p:spPr>
          <a:xfrm>
            <a:off x="3015596" y="12997701"/>
            <a:ext cx="201121" cy="38086"/>
          </a:xfrm>
          <a:prstGeom prst="roundRect">
            <a:avLst>
              <a:gd name="adj" fmla="val 50001"/>
            </a:avLst>
          </a:prstGeom>
          <a:solidFill>
            <a:srgbClr val="C2542D"/>
          </a:solidFill>
          <a:ln/>
        </p:spPr>
      </p:sp>
      <p:sp>
        <p:nvSpPr>
          <p:cNvPr id="141" name="Text 131"/>
          <p:cNvSpPr/>
          <p:nvPr/>
        </p:nvSpPr>
        <p:spPr>
          <a:xfrm>
            <a:off x="542005" y="13200311"/>
            <a:ext cx="2900930" cy="268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1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Toitures Mercier</a:t>
            </a:r>
            <a:endParaRPr lang="en-US" sz="1650" dirty="0"/>
          </a:p>
        </p:txBody>
      </p:sp>
      <p:sp>
        <p:nvSpPr>
          <p:cNvPr id="142" name="Text 132"/>
          <p:cNvSpPr/>
          <p:nvPr/>
        </p:nvSpPr>
        <p:spPr>
          <a:xfrm>
            <a:off x="542005" y="13459339"/>
            <a:ext cx="2900930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Mercier Toitures &amp; Étanchéité SAS</a:t>
            </a:r>
            <a:endParaRPr lang="en-US" sz="900" dirty="0"/>
          </a:p>
        </p:txBody>
      </p:sp>
      <p:sp>
        <p:nvSpPr>
          <p:cNvPr id="143" name="Shape 133"/>
          <p:cNvSpPr/>
          <p:nvPr/>
        </p:nvSpPr>
        <p:spPr>
          <a:xfrm>
            <a:off x="542005" y="13707814"/>
            <a:ext cx="2816437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44" name="Text 134"/>
          <p:cNvSpPr/>
          <p:nvPr/>
        </p:nvSpPr>
        <p:spPr>
          <a:xfrm>
            <a:off x="542005" y="13811723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145" name="Text 135"/>
          <p:cNvSpPr/>
          <p:nvPr/>
        </p:nvSpPr>
        <p:spPr>
          <a:xfrm>
            <a:off x="542005" y="13988355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 Mercier</a:t>
            </a:r>
            <a:endParaRPr lang="en-US" sz="1050" dirty="0"/>
          </a:p>
        </p:txBody>
      </p:sp>
      <p:sp>
        <p:nvSpPr>
          <p:cNvPr id="146" name="Text 136"/>
          <p:cNvSpPr/>
          <p:nvPr/>
        </p:nvSpPr>
        <p:spPr>
          <a:xfrm>
            <a:off x="2016892" y="13811723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147" name="Text 137"/>
          <p:cNvSpPr/>
          <p:nvPr/>
        </p:nvSpPr>
        <p:spPr>
          <a:xfrm>
            <a:off x="2016892" y="13988355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à 9</a:t>
            </a:r>
            <a:endParaRPr lang="en-US" sz="1050" dirty="0"/>
          </a:p>
        </p:txBody>
      </p:sp>
      <p:sp>
        <p:nvSpPr>
          <p:cNvPr id="148" name="Text 138"/>
          <p:cNvSpPr/>
          <p:nvPr/>
        </p:nvSpPr>
        <p:spPr>
          <a:xfrm>
            <a:off x="542005" y="14263551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</a:t>
            </a:r>
            <a:endParaRPr lang="en-US" sz="863" dirty="0"/>
          </a:p>
        </p:txBody>
      </p:sp>
      <p:sp>
        <p:nvSpPr>
          <p:cNvPr id="149" name="Text 139"/>
          <p:cNvSpPr/>
          <p:nvPr/>
        </p:nvSpPr>
        <p:spPr>
          <a:xfrm>
            <a:off x="542005" y="14440184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Vénissieux · 69</a:t>
            </a:r>
            <a:endParaRPr lang="en-US" sz="1050" dirty="0"/>
          </a:p>
        </p:txBody>
      </p:sp>
      <p:sp>
        <p:nvSpPr>
          <p:cNvPr id="150" name="Text 140"/>
          <p:cNvSpPr/>
          <p:nvPr/>
        </p:nvSpPr>
        <p:spPr>
          <a:xfrm>
            <a:off x="2016892" y="14263551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151" name="Text 141"/>
          <p:cNvSpPr/>
          <p:nvPr/>
        </p:nvSpPr>
        <p:spPr>
          <a:xfrm>
            <a:off x="2016892" y="14440184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04 72 50 11 88</a:t>
            </a:r>
            <a:endParaRPr lang="en-US" sz="1050" dirty="0"/>
          </a:p>
        </p:txBody>
      </p:sp>
      <p:sp>
        <p:nvSpPr>
          <p:cNvPr id="152" name="Shape 142"/>
          <p:cNvSpPr/>
          <p:nvPr/>
        </p:nvSpPr>
        <p:spPr>
          <a:xfrm>
            <a:off x="542005" y="14753399"/>
            <a:ext cx="2816437" cy="728920"/>
          </a:xfrm>
          <a:prstGeom prst="roundRect">
            <a:avLst>
              <a:gd name="adj" fmla="val 7840"/>
            </a:avLst>
          </a:prstGeom>
          <a:solidFill>
            <a:srgbClr val="F1EDE4"/>
          </a:solidFill>
          <a:ln/>
        </p:spPr>
      </p:sp>
      <p:sp>
        <p:nvSpPr>
          <p:cNvPr id="153" name="Text 143"/>
          <p:cNvSpPr/>
          <p:nvPr/>
        </p:nvSpPr>
        <p:spPr>
          <a:xfrm>
            <a:off x="656305" y="14848649"/>
            <a:ext cx="2672330" cy="576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highlight>
                  <a:srgbClr val="F1EDE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Je travaille avec plusieurs ateliers étanchéité du Rhône — votre taille, votre métier. Auriez-vous 15 minutes la semaine prochaine ?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975" dirty="0"/>
          </a:p>
        </p:txBody>
      </p:sp>
      <p:sp>
        <p:nvSpPr>
          <p:cNvPr id="154" name="Shape 144"/>
          <p:cNvSpPr/>
          <p:nvPr/>
        </p:nvSpPr>
        <p:spPr>
          <a:xfrm>
            <a:off x="542005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29" y="15725111"/>
            <a:ext cx="123798" cy="123798"/>
          </a:xfrm>
          <a:prstGeom prst="rect">
            <a:avLst/>
          </a:prstGeom>
        </p:spPr>
      </p:pic>
      <p:sp>
        <p:nvSpPr>
          <p:cNvPr id="156" name="Shape 145"/>
          <p:cNvSpPr/>
          <p:nvPr/>
        </p:nvSpPr>
        <p:spPr>
          <a:xfrm>
            <a:off x="941947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471" y="15725111"/>
            <a:ext cx="123798" cy="123798"/>
          </a:xfrm>
          <a:prstGeom prst="rect">
            <a:avLst/>
          </a:prstGeom>
        </p:spPr>
      </p:pic>
      <p:sp>
        <p:nvSpPr>
          <p:cNvPr id="158" name="Shape 146"/>
          <p:cNvSpPr/>
          <p:nvPr/>
        </p:nvSpPr>
        <p:spPr>
          <a:xfrm>
            <a:off x="1341888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412" y="15725111"/>
            <a:ext cx="123798" cy="123798"/>
          </a:xfrm>
          <a:prstGeom prst="rect">
            <a:avLst/>
          </a:prstGeom>
        </p:spPr>
      </p:pic>
      <p:sp>
        <p:nvSpPr>
          <p:cNvPr id="160" name="Shape 147"/>
          <p:cNvSpPr/>
          <p:nvPr/>
        </p:nvSpPr>
        <p:spPr>
          <a:xfrm>
            <a:off x="1741830" y="15615588"/>
            <a:ext cx="1616612" cy="342846"/>
          </a:xfrm>
          <a:prstGeom prst="roundRect">
            <a:avLst>
              <a:gd name="adj" fmla="val 22226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161" name="Text 148"/>
          <p:cNvSpPr/>
          <p:nvPr/>
        </p:nvSpPr>
        <p:spPr>
          <a:xfrm>
            <a:off x="2042111" y="15711243"/>
            <a:ext cx="84469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fiche</a:t>
            </a:r>
            <a:endParaRPr lang="en-US" sz="900" dirty="0"/>
          </a:p>
        </p:txBody>
      </p:sp>
      <p:pic>
        <p:nvPicPr>
          <p:cNvPr id="1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05801" y="15729847"/>
            <a:ext cx="114259" cy="114259"/>
          </a:xfrm>
          <a:prstGeom prst="rect">
            <a:avLst/>
          </a:prstGeom>
        </p:spPr>
      </p:pic>
      <p:sp>
        <p:nvSpPr>
          <p:cNvPr id="163" name="Shape 149"/>
          <p:cNvSpPr/>
          <p:nvPr/>
        </p:nvSpPr>
        <p:spPr>
          <a:xfrm>
            <a:off x="3652783" y="12786500"/>
            <a:ext cx="3138515" cy="3313929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164" name="Text 150"/>
          <p:cNvSpPr/>
          <p:nvPr/>
        </p:nvSpPr>
        <p:spPr>
          <a:xfrm>
            <a:off x="3813788" y="12947505"/>
            <a:ext cx="219007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63" dirty="0"/>
          </a:p>
        </p:txBody>
      </p:sp>
      <p:sp>
        <p:nvSpPr>
          <p:cNvPr id="165" name="Text 151"/>
          <p:cNvSpPr/>
          <p:nvPr/>
        </p:nvSpPr>
        <p:spPr>
          <a:xfrm>
            <a:off x="5901576" y="12954000"/>
            <a:ext cx="404975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1.4km</a:t>
            </a:r>
            <a:endParaRPr lang="en-US" sz="863" dirty="0"/>
          </a:p>
        </p:txBody>
      </p:sp>
      <p:sp>
        <p:nvSpPr>
          <p:cNvPr id="166" name="Shape 152"/>
          <p:cNvSpPr/>
          <p:nvPr/>
        </p:nvSpPr>
        <p:spPr>
          <a:xfrm>
            <a:off x="6287447" y="12997701"/>
            <a:ext cx="342846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167" name="Shape 153"/>
          <p:cNvSpPr/>
          <p:nvPr/>
        </p:nvSpPr>
        <p:spPr>
          <a:xfrm>
            <a:off x="6287447" y="12997701"/>
            <a:ext cx="310780" cy="38086"/>
          </a:xfrm>
          <a:prstGeom prst="roundRect">
            <a:avLst>
              <a:gd name="adj" fmla="val 50001"/>
            </a:avLst>
          </a:prstGeom>
          <a:solidFill>
            <a:srgbClr val="C2542D"/>
          </a:solidFill>
          <a:ln/>
        </p:spPr>
      </p:sp>
      <p:sp>
        <p:nvSpPr>
          <p:cNvPr id="168" name="Text 154"/>
          <p:cNvSpPr/>
          <p:nvPr/>
        </p:nvSpPr>
        <p:spPr>
          <a:xfrm>
            <a:off x="3813788" y="13200311"/>
            <a:ext cx="2901000" cy="268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1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Étan-Pro 69</a:t>
            </a:r>
            <a:endParaRPr lang="en-US" sz="1650" dirty="0"/>
          </a:p>
        </p:txBody>
      </p:sp>
      <p:sp>
        <p:nvSpPr>
          <p:cNvPr id="169" name="Text 155"/>
          <p:cNvSpPr/>
          <p:nvPr/>
        </p:nvSpPr>
        <p:spPr>
          <a:xfrm>
            <a:off x="3813788" y="13459339"/>
            <a:ext cx="2901000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Étan-Pro Soixante-Neuf SARL</a:t>
            </a:r>
            <a:endParaRPr lang="en-US" sz="900" dirty="0"/>
          </a:p>
        </p:txBody>
      </p:sp>
      <p:sp>
        <p:nvSpPr>
          <p:cNvPr id="170" name="Shape 156"/>
          <p:cNvSpPr/>
          <p:nvPr/>
        </p:nvSpPr>
        <p:spPr>
          <a:xfrm>
            <a:off x="3813788" y="13707814"/>
            <a:ext cx="2816505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71" name="Text 157"/>
          <p:cNvSpPr/>
          <p:nvPr/>
        </p:nvSpPr>
        <p:spPr>
          <a:xfrm>
            <a:off x="3813788" y="13811723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172" name="Text 158"/>
          <p:cNvSpPr/>
          <p:nvPr/>
        </p:nvSpPr>
        <p:spPr>
          <a:xfrm>
            <a:off x="3813788" y="13988355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Laurent Béchu</a:t>
            </a:r>
            <a:endParaRPr lang="en-US" sz="1050" dirty="0"/>
          </a:p>
        </p:txBody>
      </p:sp>
      <p:sp>
        <p:nvSpPr>
          <p:cNvPr id="173" name="Text 159"/>
          <p:cNvSpPr/>
          <p:nvPr/>
        </p:nvSpPr>
        <p:spPr>
          <a:xfrm>
            <a:off x="5288675" y="13811723"/>
            <a:ext cx="141781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174" name="Text 160"/>
          <p:cNvSpPr/>
          <p:nvPr/>
        </p:nvSpPr>
        <p:spPr>
          <a:xfrm>
            <a:off x="5288675" y="13988355"/>
            <a:ext cx="1417818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à 9</a:t>
            </a:r>
            <a:endParaRPr lang="en-US" sz="1050" dirty="0"/>
          </a:p>
        </p:txBody>
      </p:sp>
      <p:sp>
        <p:nvSpPr>
          <p:cNvPr id="175" name="Text 161"/>
          <p:cNvSpPr/>
          <p:nvPr/>
        </p:nvSpPr>
        <p:spPr>
          <a:xfrm>
            <a:off x="3813788" y="14263551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</a:t>
            </a:r>
            <a:endParaRPr lang="en-US" sz="863" dirty="0"/>
          </a:p>
        </p:txBody>
      </p:sp>
      <p:sp>
        <p:nvSpPr>
          <p:cNvPr id="176" name="Text 162"/>
          <p:cNvSpPr/>
          <p:nvPr/>
        </p:nvSpPr>
        <p:spPr>
          <a:xfrm>
            <a:off x="3813788" y="14440184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Villeurbanne · 69</a:t>
            </a:r>
            <a:endParaRPr lang="en-US" sz="1050" dirty="0"/>
          </a:p>
        </p:txBody>
      </p:sp>
      <p:sp>
        <p:nvSpPr>
          <p:cNvPr id="177" name="Text 163"/>
          <p:cNvSpPr/>
          <p:nvPr/>
        </p:nvSpPr>
        <p:spPr>
          <a:xfrm>
            <a:off x="5288675" y="14263551"/>
            <a:ext cx="141781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178" name="Text 164"/>
          <p:cNvSpPr/>
          <p:nvPr/>
        </p:nvSpPr>
        <p:spPr>
          <a:xfrm>
            <a:off x="5288675" y="14440184"/>
            <a:ext cx="1417818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04 78 03 56 41</a:t>
            </a:r>
            <a:endParaRPr lang="en-US" sz="1050" dirty="0"/>
          </a:p>
        </p:txBody>
      </p:sp>
      <p:sp>
        <p:nvSpPr>
          <p:cNvPr id="179" name="Shape 165"/>
          <p:cNvSpPr/>
          <p:nvPr/>
        </p:nvSpPr>
        <p:spPr>
          <a:xfrm>
            <a:off x="3813788" y="14753399"/>
            <a:ext cx="2816505" cy="728920"/>
          </a:xfrm>
          <a:prstGeom prst="roundRect">
            <a:avLst>
              <a:gd name="adj" fmla="val 7840"/>
            </a:avLst>
          </a:prstGeom>
          <a:solidFill>
            <a:srgbClr val="F1EDE4"/>
          </a:solidFill>
          <a:ln/>
        </p:spPr>
      </p:sp>
      <p:sp>
        <p:nvSpPr>
          <p:cNvPr id="180" name="Text 166"/>
          <p:cNvSpPr/>
          <p:nvPr/>
        </p:nvSpPr>
        <p:spPr>
          <a:xfrm>
            <a:off x="3928088" y="14848649"/>
            <a:ext cx="2672400" cy="576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highlight>
                  <a:srgbClr val="F1EDE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Voisin direct d'un confrère que vous connaissez probablement. 15 minutes pour échanger sur votre fonctionnement équipe ?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975" dirty="0"/>
          </a:p>
        </p:txBody>
      </p:sp>
      <p:sp>
        <p:nvSpPr>
          <p:cNvPr id="181" name="Shape 167"/>
          <p:cNvSpPr/>
          <p:nvPr/>
        </p:nvSpPr>
        <p:spPr>
          <a:xfrm>
            <a:off x="3813788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8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3312" y="15725111"/>
            <a:ext cx="123798" cy="123798"/>
          </a:xfrm>
          <a:prstGeom prst="rect">
            <a:avLst/>
          </a:prstGeom>
        </p:spPr>
      </p:pic>
      <p:sp>
        <p:nvSpPr>
          <p:cNvPr id="183" name="Shape 168"/>
          <p:cNvSpPr/>
          <p:nvPr/>
        </p:nvSpPr>
        <p:spPr>
          <a:xfrm>
            <a:off x="4213730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8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23254" y="15725111"/>
            <a:ext cx="123798" cy="123798"/>
          </a:xfrm>
          <a:prstGeom prst="rect">
            <a:avLst/>
          </a:prstGeom>
        </p:spPr>
      </p:pic>
      <p:sp>
        <p:nvSpPr>
          <p:cNvPr id="185" name="Shape 169"/>
          <p:cNvSpPr/>
          <p:nvPr/>
        </p:nvSpPr>
        <p:spPr>
          <a:xfrm>
            <a:off x="4613672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8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3196" y="15725111"/>
            <a:ext cx="123798" cy="123798"/>
          </a:xfrm>
          <a:prstGeom prst="rect">
            <a:avLst/>
          </a:prstGeom>
        </p:spPr>
      </p:pic>
      <p:sp>
        <p:nvSpPr>
          <p:cNvPr id="187" name="Shape 170"/>
          <p:cNvSpPr/>
          <p:nvPr/>
        </p:nvSpPr>
        <p:spPr>
          <a:xfrm>
            <a:off x="5013613" y="15615588"/>
            <a:ext cx="1616679" cy="342846"/>
          </a:xfrm>
          <a:prstGeom prst="roundRect">
            <a:avLst>
              <a:gd name="adj" fmla="val 22226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188" name="Text 171"/>
          <p:cNvSpPr/>
          <p:nvPr/>
        </p:nvSpPr>
        <p:spPr>
          <a:xfrm>
            <a:off x="5313895" y="15711243"/>
            <a:ext cx="84469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fiche</a:t>
            </a:r>
            <a:endParaRPr lang="en-US" sz="900" dirty="0"/>
          </a:p>
        </p:txBody>
      </p:sp>
      <p:pic>
        <p:nvPicPr>
          <p:cNvPr id="18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7585" y="15729847"/>
            <a:ext cx="114259" cy="114259"/>
          </a:xfrm>
          <a:prstGeom prst="rect">
            <a:avLst/>
          </a:prstGeom>
        </p:spPr>
      </p:pic>
      <p:sp>
        <p:nvSpPr>
          <p:cNvPr id="190" name="Shape 172"/>
          <p:cNvSpPr/>
          <p:nvPr/>
        </p:nvSpPr>
        <p:spPr>
          <a:xfrm>
            <a:off x="6924634" y="12786500"/>
            <a:ext cx="3138515" cy="3313929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191" name="Text 173"/>
          <p:cNvSpPr/>
          <p:nvPr/>
        </p:nvSpPr>
        <p:spPr>
          <a:xfrm>
            <a:off x="7085639" y="12947505"/>
            <a:ext cx="218466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63" dirty="0"/>
          </a:p>
        </p:txBody>
      </p:sp>
      <p:sp>
        <p:nvSpPr>
          <p:cNvPr id="192" name="Text 174"/>
          <p:cNvSpPr/>
          <p:nvPr/>
        </p:nvSpPr>
        <p:spPr>
          <a:xfrm>
            <a:off x="9173427" y="12954000"/>
            <a:ext cx="404975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8.9km</a:t>
            </a:r>
            <a:endParaRPr lang="en-US" sz="863" dirty="0"/>
          </a:p>
        </p:txBody>
      </p:sp>
      <p:sp>
        <p:nvSpPr>
          <p:cNvPr id="193" name="Shape 175"/>
          <p:cNvSpPr/>
          <p:nvPr/>
        </p:nvSpPr>
        <p:spPr>
          <a:xfrm>
            <a:off x="9559298" y="12997701"/>
            <a:ext cx="342846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194" name="Shape 176"/>
          <p:cNvSpPr/>
          <p:nvPr/>
        </p:nvSpPr>
        <p:spPr>
          <a:xfrm>
            <a:off x="9559298" y="12997701"/>
            <a:ext cx="139357" cy="38086"/>
          </a:xfrm>
          <a:prstGeom prst="roundRect">
            <a:avLst>
              <a:gd name="adj" fmla="val 50001"/>
            </a:avLst>
          </a:prstGeom>
          <a:solidFill>
            <a:srgbClr val="C2542D"/>
          </a:solidFill>
          <a:ln/>
        </p:spPr>
      </p:sp>
      <p:sp>
        <p:nvSpPr>
          <p:cNvPr id="195" name="Text 177"/>
          <p:cNvSpPr/>
          <p:nvPr/>
        </p:nvSpPr>
        <p:spPr>
          <a:xfrm>
            <a:off x="7085639" y="13200311"/>
            <a:ext cx="2901000" cy="268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1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Zénith Étanchéité</a:t>
            </a:r>
            <a:endParaRPr lang="en-US" sz="1650" dirty="0"/>
          </a:p>
        </p:txBody>
      </p:sp>
      <p:sp>
        <p:nvSpPr>
          <p:cNvPr id="196" name="Text 178"/>
          <p:cNvSpPr/>
          <p:nvPr/>
        </p:nvSpPr>
        <p:spPr>
          <a:xfrm>
            <a:off x="7085639" y="13459339"/>
            <a:ext cx="2901000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Zénith Étanchéité SARL</a:t>
            </a:r>
            <a:endParaRPr lang="en-US" sz="900" dirty="0"/>
          </a:p>
        </p:txBody>
      </p:sp>
      <p:sp>
        <p:nvSpPr>
          <p:cNvPr id="197" name="Shape 179"/>
          <p:cNvSpPr/>
          <p:nvPr/>
        </p:nvSpPr>
        <p:spPr>
          <a:xfrm>
            <a:off x="7085639" y="13707814"/>
            <a:ext cx="2816505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98" name="Text 180"/>
          <p:cNvSpPr/>
          <p:nvPr/>
        </p:nvSpPr>
        <p:spPr>
          <a:xfrm>
            <a:off x="7085639" y="13811723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199" name="Text 181"/>
          <p:cNvSpPr/>
          <p:nvPr/>
        </p:nvSpPr>
        <p:spPr>
          <a:xfrm>
            <a:off x="7085639" y="13988355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Sandrine Daudet</a:t>
            </a:r>
            <a:endParaRPr lang="en-US" sz="1050" dirty="0"/>
          </a:p>
        </p:txBody>
      </p:sp>
      <p:sp>
        <p:nvSpPr>
          <p:cNvPr id="200" name="Text 182"/>
          <p:cNvSpPr/>
          <p:nvPr/>
        </p:nvSpPr>
        <p:spPr>
          <a:xfrm>
            <a:off x="8560526" y="13811723"/>
            <a:ext cx="141781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201" name="Text 183"/>
          <p:cNvSpPr/>
          <p:nvPr/>
        </p:nvSpPr>
        <p:spPr>
          <a:xfrm>
            <a:off x="8560526" y="13988355"/>
            <a:ext cx="1417818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à 5</a:t>
            </a:r>
            <a:endParaRPr lang="en-US" sz="1050" dirty="0"/>
          </a:p>
        </p:txBody>
      </p:sp>
      <p:sp>
        <p:nvSpPr>
          <p:cNvPr id="202" name="Text 184"/>
          <p:cNvSpPr/>
          <p:nvPr/>
        </p:nvSpPr>
        <p:spPr>
          <a:xfrm>
            <a:off x="7085639" y="14263551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</a:t>
            </a:r>
            <a:endParaRPr lang="en-US" sz="863" dirty="0"/>
          </a:p>
        </p:txBody>
      </p:sp>
      <p:sp>
        <p:nvSpPr>
          <p:cNvPr id="203" name="Text 185"/>
          <p:cNvSpPr/>
          <p:nvPr/>
        </p:nvSpPr>
        <p:spPr>
          <a:xfrm>
            <a:off x="7085639" y="14440184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· 69</a:t>
            </a:r>
            <a:endParaRPr lang="en-US" sz="1050" dirty="0"/>
          </a:p>
        </p:txBody>
      </p:sp>
      <p:sp>
        <p:nvSpPr>
          <p:cNvPr id="204" name="Text 186"/>
          <p:cNvSpPr/>
          <p:nvPr/>
        </p:nvSpPr>
        <p:spPr>
          <a:xfrm>
            <a:off x="8560526" y="14263551"/>
            <a:ext cx="141781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205" name="Text 187"/>
          <p:cNvSpPr/>
          <p:nvPr/>
        </p:nvSpPr>
        <p:spPr>
          <a:xfrm>
            <a:off x="8560526" y="14440184"/>
            <a:ext cx="1417818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04 78 26 90 12</a:t>
            </a:r>
            <a:endParaRPr lang="en-US" sz="1050" dirty="0"/>
          </a:p>
        </p:txBody>
      </p:sp>
      <p:sp>
        <p:nvSpPr>
          <p:cNvPr id="206" name="Shape 188"/>
          <p:cNvSpPr/>
          <p:nvPr/>
        </p:nvSpPr>
        <p:spPr>
          <a:xfrm>
            <a:off x="7085639" y="14753399"/>
            <a:ext cx="2816505" cy="728920"/>
          </a:xfrm>
          <a:prstGeom prst="roundRect">
            <a:avLst>
              <a:gd name="adj" fmla="val 7840"/>
            </a:avLst>
          </a:prstGeom>
          <a:solidFill>
            <a:srgbClr val="F1EDE4"/>
          </a:solidFill>
          <a:ln/>
        </p:spPr>
      </p:sp>
      <p:sp>
        <p:nvSpPr>
          <p:cNvPr id="207" name="Text 189"/>
          <p:cNvSpPr/>
          <p:nvPr/>
        </p:nvSpPr>
        <p:spPr>
          <a:xfrm>
            <a:off x="7199939" y="14848649"/>
            <a:ext cx="2672400" cy="576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highlight>
                  <a:srgbClr val="F1EDE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Plus petite structure du périmètre — approche planning + facturation chantier. Court échange ?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975" dirty="0"/>
          </a:p>
        </p:txBody>
      </p:sp>
      <p:sp>
        <p:nvSpPr>
          <p:cNvPr id="208" name="Shape 190"/>
          <p:cNvSpPr/>
          <p:nvPr/>
        </p:nvSpPr>
        <p:spPr>
          <a:xfrm>
            <a:off x="7085639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20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95163" y="15725111"/>
            <a:ext cx="123798" cy="123798"/>
          </a:xfrm>
          <a:prstGeom prst="rect">
            <a:avLst/>
          </a:prstGeom>
        </p:spPr>
      </p:pic>
      <p:sp>
        <p:nvSpPr>
          <p:cNvPr id="210" name="Shape 191"/>
          <p:cNvSpPr/>
          <p:nvPr/>
        </p:nvSpPr>
        <p:spPr>
          <a:xfrm>
            <a:off x="7485581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21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95105" y="15725111"/>
            <a:ext cx="123798" cy="123798"/>
          </a:xfrm>
          <a:prstGeom prst="rect">
            <a:avLst/>
          </a:prstGeom>
        </p:spPr>
      </p:pic>
      <p:sp>
        <p:nvSpPr>
          <p:cNvPr id="212" name="Shape 192"/>
          <p:cNvSpPr/>
          <p:nvPr/>
        </p:nvSpPr>
        <p:spPr>
          <a:xfrm>
            <a:off x="7885523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21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95046" y="15725111"/>
            <a:ext cx="123798" cy="123798"/>
          </a:xfrm>
          <a:prstGeom prst="rect">
            <a:avLst/>
          </a:prstGeom>
        </p:spPr>
      </p:pic>
      <p:sp>
        <p:nvSpPr>
          <p:cNvPr id="214" name="Shape 193"/>
          <p:cNvSpPr/>
          <p:nvPr/>
        </p:nvSpPr>
        <p:spPr>
          <a:xfrm>
            <a:off x="8285465" y="15615588"/>
            <a:ext cx="1616679" cy="342846"/>
          </a:xfrm>
          <a:prstGeom prst="roundRect">
            <a:avLst>
              <a:gd name="adj" fmla="val 22226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215" name="Text 194"/>
          <p:cNvSpPr/>
          <p:nvPr/>
        </p:nvSpPr>
        <p:spPr>
          <a:xfrm>
            <a:off x="8585745" y="15711243"/>
            <a:ext cx="84469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fiche</a:t>
            </a:r>
            <a:endParaRPr lang="en-US" sz="900" dirty="0"/>
          </a:p>
        </p:txBody>
      </p:sp>
      <p:pic>
        <p:nvPicPr>
          <p:cNvPr id="21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49435" y="15729847"/>
            <a:ext cx="114259" cy="114259"/>
          </a:xfrm>
          <a:prstGeom prst="rect">
            <a:avLst/>
          </a:prstGeom>
        </p:spPr>
      </p:pic>
      <p:sp>
        <p:nvSpPr>
          <p:cNvPr id="217" name="Shape 195"/>
          <p:cNvSpPr/>
          <p:nvPr/>
        </p:nvSpPr>
        <p:spPr>
          <a:xfrm>
            <a:off x="10196485" y="12786500"/>
            <a:ext cx="3138515" cy="3313929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18" name="Text 196"/>
          <p:cNvSpPr/>
          <p:nvPr/>
        </p:nvSpPr>
        <p:spPr>
          <a:xfrm>
            <a:off x="10357490" y="12947505"/>
            <a:ext cx="21806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63" dirty="0"/>
          </a:p>
        </p:txBody>
      </p:sp>
      <p:sp>
        <p:nvSpPr>
          <p:cNvPr id="219" name="Text 197"/>
          <p:cNvSpPr/>
          <p:nvPr/>
        </p:nvSpPr>
        <p:spPr>
          <a:xfrm>
            <a:off x="12392444" y="12954000"/>
            <a:ext cx="457809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11.7km</a:t>
            </a:r>
            <a:endParaRPr lang="en-US" sz="863" dirty="0"/>
          </a:p>
        </p:txBody>
      </p:sp>
      <p:sp>
        <p:nvSpPr>
          <p:cNvPr id="220" name="Shape 198"/>
          <p:cNvSpPr/>
          <p:nvPr/>
        </p:nvSpPr>
        <p:spPr>
          <a:xfrm>
            <a:off x="12831148" y="12997701"/>
            <a:ext cx="342846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221" name="Shape 199"/>
          <p:cNvSpPr/>
          <p:nvPr/>
        </p:nvSpPr>
        <p:spPr>
          <a:xfrm>
            <a:off x="12831148" y="12997701"/>
            <a:ext cx="75361" cy="38086"/>
          </a:xfrm>
          <a:prstGeom prst="roundRect">
            <a:avLst>
              <a:gd name="adj" fmla="val 50001"/>
            </a:avLst>
          </a:prstGeom>
          <a:solidFill>
            <a:srgbClr val="C2542D"/>
          </a:solidFill>
          <a:ln/>
        </p:spPr>
      </p:sp>
      <p:sp>
        <p:nvSpPr>
          <p:cNvPr id="222" name="Text 200"/>
          <p:cNvSpPr/>
          <p:nvPr/>
        </p:nvSpPr>
        <p:spPr>
          <a:xfrm>
            <a:off x="10357490" y="13200311"/>
            <a:ext cx="2901000" cy="268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1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Couverture Rhône+</a:t>
            </a:r>
            <a:endParaRPr lang="en-US" sz="1650" dirty="0"/>
          </a:p>
        </p:txBody>
      </p:sp>
      <p:sp>
        <p:nvSpPr>
          <p:cNvPr id="223" name="Text 201"/>
          <p:cNvSpPr/>
          <p:nvPr/>
        </p:nvSpPr>
        <p:spPr>
          <a:xfrm>
            <a:off x="10357490" y="13459339"/>
            <a:ext cx="2901000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Rhône Plus SAS</a:t>
            </a:r>
            <a:endParaRPr lang="en-US" sz="900" dirty="0"/>
          </a:p>
        </p:txBody>
      </p:sp>
      <p:sp>
        <p:nvSpPr>
          <p:cNvPr id="224" name="Shape 202"/>
          <p:cNvSpPr/>
          <p:nvPr/>
        </p:nvSpPr>
        <p:spPr>
          <a:xfrm>
            <a:off x="10357490" y="13707814"/>
            <a:ext cx="2816505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225" name="Text 203"/>
          <p:cNvSpPr/>
          <p:nvPr/>
        </p:nvSpPr>
        <p:spPr>
          <a:xfrm>
            <a:off x="10357490" y="13811723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226" name="Text 204"/>
          <p:cNvSpPr/>
          <p:nvPr/>
        </p:nvSpPr>
        <p:spPr>
          <a:xfrm>
            <a:off x="10357490" y="13988355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Belkacem</a:t>
            </a:r>
            <a:endParaRPr lang="en-US" sz="1050" dirty="0"/>
          </a:p>
        </p:txBody>
      </p:sp>
      <p:sp>
        <p:nvSpPr>
          <p:cNvPr id="227" name="Text 205"/>
          <p:cNvSpPr/>
          <p:nvPr/>
        </p:nvSpPr>
        <p:spPr>
          <a:xfrm>
            <a:off x="11832377" y="13811723"/>
            <a:ext cx="141781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228" name="Text 206"/>
          <p:cNvSpPr/>
          <p:nvPr/>
        </p:nvSpPr>
        <p:spPr>
          <a:xfrm>
            <a:off x="11832377" y="13988355"/>
            <a:ext cx="1417818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à 19</a:t>
            </a:r>
            <a:endParaRPr lang="en-US" sz="1050" dirty="0"/>
          </a:p>
        </p:txBody>
      </p:sp>
      <p:sp>
        <p:nvSpPr>
          <p:cNvPr id="229" name="Text 207"/>
          <p:cNvSpPr/>
          <p:nvPr/>
        </p:nvSpPr>
        <p:spPr>
          <a:xfrm>
            <a:off x="10357490" y="14263551"/>
            <a:ext cx="141775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</a:t>
            </a:r>
            <a:endParaRPr lang="en-US" sz="863" dirty="0"/>
          </a:p>
        </p:txBody>
      </p:sp>
      <p:sp>
        <p:nvSpPr>
          <p:cNvPr id="230" name="Text 208"/>
          <p:cNvSpPr/>
          <p:nvPr/>
        </p:nvSpPr>
        <p:spPr>
          <a:xfrm>
            <a:off x="10357490" y="14440184"/>
            <a:ext cx="1417750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Rillieux-la-Pape · 69</a:t>
            </a:r>
            <a:endParaRPr lang="en-US" sz="1050" dirty="0"/>
          </a:p>
        </p:txBody>
      </p:sp>
      <p:sp>
        <p:nvSpPr>
          <p:cNvPr id="231" name="Text 209"/>
          <p:cNvSpPr/>
          <p:nvPr/>
        </p:nvSpPr>
        <p:spPr>
          <a:xfrm>
            <a:off x="11832377" y="14263551"/>
            <a:ext cx="141781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232" name="Text 210"/>
          <p:cNvSpPr/>
          <p:nvPr/>
        </p:nvSpPr>
        <p:spPr>
          <a:xfrm>
            <a:off x="11832377" y="14440184"/>
            <a:ext cx="1417818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04 78 88 14 70</a:t>
            </a:r>
            <a:endParaRPr lang="en-US" sz="1050" dirty="0"/>
          </a:p>
        </p:txBody>
      </p:sp>
      <p:sp>
        <p:nvSpPr>
          <p:cNvPr id="233" name="Shape 211"/>
          <p:cNvSpPr/>
          <p:nvPr/>
        </p:nvSpPr>
        <p:spPr>
          <a:xfrm>
            <a:off x="10357490" y="14753399"/>
            <a:ext cx="2816505" cy="728920"/>
          </a:xfrm>
          <a:prstGeom prst="roundRect">
            <a:avLst>
              <a:gd name="adj" fmla="val 7840"/>
            </a:avLst>
          </a:prstGeom>
          <a:solidFill>
            <a:srgbClr val="F1EDE4"/>
          </a:solidFill>
          <a:ln/>
        </p:spPr>
      </p:sp>
      <p:sp>
        <p:nvSpPr>
          <p:cNvPr id="234" name="Text 212"/>
          <p:cNvSpPr/>
          <p:nvPr/>
        </p:nvSpPr>
        <p:spPr>
          <a:xfrm>
            <a:off x="10471790" y="14848649"/>
            <a:ext cx="2672400" cy="576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highlight>
                  <a:srgbClr val="F1EDE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Structure un peu plus grosse que les autres du périmètre — approche multi-équipes / coordination de chantiers parallèles.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975" dirty="0"/>
          </a:p>
        </p:txBody>
      </p:sp>
      <p:sp>
        <p:nvSpPr>
          <p:cNvPr id="235" name="Shape 213"/>
          <p:cNvSpPr/>
          <p:nvPr/>
        </p:nvSpPr>
        <p:spPr>
          <a:xfrm>
            <a:off x="10357490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23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67014" y="15725111"/>
            <a:ext cx="123798" cy="123798"/>
          </a:xfrm>
          <a:prstGeom prst="rect">
            <a:avLst/>
          </a:prstGeom>
        </p:spPr>
      </p:pic>
      <p:sp>
        <p:nvSpPr>
          <p:cNvPr id="237" name="Shape 214"/>
          <p:cNvSpPr/>
          <p:nvPr/>
        </p:nvSpPr>
        <p:spPr>
          <a:xfrm>
            <a:off x="10757432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23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66956" y="15725111"/>
            <a:ext cx="123798" cy="123798"/>
          </a:xfrm>
          <a:prstGeom prst="rect">
            <a:avLst/>
          </a:prstGeom>
        </p:spPr>
      </p:pic>
      <p:sp>
        <p:nvSpPr>
          <p:cNvPr id="239" name="Shape 215"/>
          <p:cNvSpPr/>
          <p:nvPr/>
        </p:nvSpPr>
        <p:spPr>
          <a:xfrm>
            <a:off x="11157374" y="15615588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24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66898" y="15725111"/>
            <a:ext cx="123798" cy="123798"/>
          </a:xfrm>
          <a:prstGeom prst="rect">
            <a:avLst/>
          </a:prstGeom>
        </p:spPr>
      </p:pic>
      <p:sp>
        <p:nvSpPr>
          <p:cNvPr id="241" name="Shape 216"/>
          <p:cNvSpPr/>
          <p:nvPr/>
        </p:nvSpPr>
        <p:spPr>
          <a:xfrm>
            <a:off x="11557315" y="15615588"/>
            <a:ext cx="1616679" cy="342846"/>
          </a:xfrm>
          <a:prstGeom prst="roundRect">
            <a:avLst>
              <a:gd name="adj" fmla="val 22226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242" name="Text 217"/>
          <p:cNvSpPr/>
          <p:nvPr/>
        </p:nvSpPr>
        <p:spPr>
          <a:xfrm>
            <a:off x="11857597" y="15711243"/>
            <a:ext cx="84469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fiche</a:t>
            </a:r>
            <a:endParaRPr lang="en-US" sz="900" dirty="0"/>
          </a:p>
        </p:txBody>
      </p:sp>
      <p:pic>
        <p:nvPicPr>
          <p:cNvPr id="2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21286" y="15729847"/>
            <a:ext cx="114259" cy="114259"/>
          </a:xfrm>
          <a:prstGeom prst="rect">
            <a:avLst/>
          </a:prstGeom>
        </p:spPr>
      </p:pic>
      <p:sp>
        <p:nvSpPr>
          <p:cNvPr id="244" name="Text 218"/>
          <p:cNvSpPr/>
          <p:nvPr/>
        </p:nvSpPr>
        <p:spPr>
          <a:xfrm>
            <a:off x="381000" y="16756693"/>
            <a:ext cx="2495536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48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Prochaines actions</a:t>
            </a:r>
            <a:endParaRPr lang="en-US" sz="2400" dirty="0"/>
          </a:p>
        </p:txBody>
      </p:sp>
      <p:sp>
        <p:nvSpPr>
          <p:cNvPr id="245" name="Text 219"/>
          <p:cNvSpPr/>
          <p:nvPr/>
        </p:nvSpPr>
        <p:spPr>
          <a:xfrm>
            <a:off x="11919103" y="16929875"/>
            <a:ext cx="1492097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est prêt à copier-coller</a:t>
            </a:r>
            <a:endParaRPr lang="en-US" sz="863" dirty="0"/>
          </a:p>
        </p:txBody>
      </p:sp>
      <p:sp>
        <p:nvSpPr>
          <p:cNvPr id="246" name="Shape 220"/>
          <p:cNvSpPr/>
          <p:nvPr/>
        </p:nvSpPr>
        <p:spPr>
          <a:xfrm>
            <a:off x="381000" y="17331643"/>
            <a:ext cx="6381750" cy="3477301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47" name="Shape 221"/>
          <p:cNvSpPr/>
          <p:nvPr/>
        </p:nvSpPr>
        <p:spPr>
          <a:xfrm>
            <a:off x="389659" y="17340302"/>
            <a:ext cx="6364432" cy="488292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248" name="Shape 222"/>
          <p:cNvSpPr/>
          <p:nvPr/>
        </p:nvSpPr>
        <p:spPr>
          <a:xfrm>
            <a:off x="389659" y="17819934"/>
            <a:ext cx="6364432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249" name="Text 223"/>
          <p:cNvSpPr/>
          <p:nvPr/>
        </p:nvSpPr>
        <p:spPr>
          <a:xfrm>
            <a:off x="542005" y="17500023"/>
            <a:ext cx="1751937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d'appel · 30 secondes</a:t>
            </a:r>
            <a:endParaRPr lang="en-US" sz="975" dirty="0"/>
          </a:p>
        </p:txBody>
      </p:sp>
      <p:sp>
        <p:nvSpPr>
          <p:cNvPr id="250" name="Shape 224"/>
          <p:cNvSpPr/>
          <p:nvPr/>
        </p:nvSpPr>
        <p:spPr>
          <a:xfrm>
            <a:off x="5461518" y="17454561"/>
            <a:ext cx="1140226" cy="251114"/>
          </a:xfrm>
          <a:prstGeom prst="roundRect">
            <a:avLst>
              <a:gd name="adj" fmla="val 1896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25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65427" y="17527758"/>
            <a:ext cx="104721" cy="104721"/>
          </a:xfrm>
          <a:prstGeom prst="rect">
            <a:avLst/>
          </a:prstGeom>
        </p:spPr>
      </p:pic>
      <p:sp>
        <p:nvSpPr>
          <p:cNvPr id="252" name="Text 225"/>
          <p:cNvSpPr/>
          <p:nvPr/>
        </p:nvSpPr>
        <p:spPr>
          <a:xfrm>
            <a:off x="5717773" y="17510846"/>
            <a:ext cx="856262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Copier le script</a:t>
            </a:r>
            <a:endParaRPr lang="en-US" sz="863" dirty="0"/>
          </a:p>
        </p:txBody>
      </p:sp>
      <p:sp>
        <p:nvSpPr>
          <p:cNvPr id="253" name="Text 226"/>
          <p:cNvSpPr/>
          <p:nvPr/>
        </p:nvSpPr>
        <p:spPr>
          <a:xfrm>
            <a:off x="561109" y="17980994"/>
            <a:ext cx="6212465" cy="2704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Bonjour, est-ce que je parle bien à Romain Géraud ?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C'est Hugo Marchand. Je vous appelle pas pour vous vendre quoi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que ce soit là tout de suite. J'ai croisé un de vos fourgons hier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en fin d'après-midi sur Pressensé, ça m'a fait penser à vous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contacter.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Je travaille avec plusieurs ateliers étanchéité de votre taille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sur le Rhône (Mercier, Caraïbes Froid…) sur la partie planning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équipe et suivi chantier. 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Vous auriez 15 minutes la semaine prochaine — mardi 14h ou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jeudi matin — pour qu'on regarde si ça peut vous être utile ?</a:t>
            </a:r>
            <a:endParaRPr lang="en-US" sz="938" dirty="0"/>
          </a:p>
        </p:txBody>
      </p:sp>
      <p:sp>
        <p:nvSpPr>
          <p:cNvPr id="254" name="Shape 227"/>
          <p:cNvSpPr/>
          <p:nvPr/>
        </p:nvSpPr>
        <p:spPr>
          <a:xfrm>
            <a:off x="6953250" y="17331643"/>
            <a:ext cx="6381750" cy="3477301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55" name="Shape 228"/>
          <p:cNvSpPr/>
          <p:nvPr/>
        </p:nvSpPr>
        <p:spPr>
          <a:xfrm>
            <a:off x="6961909" y="17340302"/>
            <a:ext cx="6364432" cy="488292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256" name="Shape 229"/>
          <p:cNvSpPr/>
          <p:nvPr/>
        </p:nvSpPr>
        <p:spPr>
          <a:xfrm>
            <a:off x="6961909" y="17819934"/>
            <a:ext cx="6364432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257" name="Text 230"/>
          <p:cNvSpPr/>
          <p:nvPr/>
        </p:nvSpPr>
        <p:spPr>
          <a:xfrm>
            <a:off x="7114255" y="17500023"/>
            <a:ext cx="1569217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de prise de contact</a:t>
            </a:r>
            <a:endParaRPr lang="en-US" sz="975" dirty="0"/>
          </a:p>
        </p:txBody>
      </p:sp>
      <p:sp>
        <p:nvSpPr>
          <p:cNvPr id="258" name="Shape 231"/>
          <p:cNvSpPr/>
          <p:nvPr/>
        </p:nvSpPr>
        <p:spPr>
          <a:xfrm>
            <a:off x="12121983" y="17454561"/>
            <a:ext cx="1052012" cy="251114"/>
          </a:xfrm>
          <a:prstGeom prst="roundRect">
            <a:avLst>
              <a:gd name="adj" fmla="val 1896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25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225892" y="17527758"/>
            <a:ext cx="104721" cy="104721"/>
          </a:xfrm>
          <a:prstGeom prst="rect">
            <a:avLst/>
          </a:prstGeom>
        </p:spPr>
      </p:pic>
      <p:sp>
        <p:nvSpPr>
          <p:cNvPr id="260" name="Text 232"/>
          <p:cNvSpPr/>
          <p:nvPr/>
        </p:nvSpPr>
        <p:spPr>
          <a:xfrm>
            <a:off x="12378237" y="17510846"/>
            <a:ext cx="768048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Copier l'email</a:t>
            </a:r>
            <a:endParaRPr lang="en-US" sz="863" dirty="0"/>
          </a:p>
        </p:txBody>
      </p:sp>
      <p:sp>
        <p:nvSpPr>
          <p:cNvPr id="261" name="Text 233"/>
          <p:cNvSpPr/>
          <p:nvPr/>
        </p:nvSpPr>
        <p:spPr>
          <a:xfrm>
            <a:off x="7133359" y="17980994"/>
            <a:ext cx="6212465" cy="2704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 — Vu votre fourgon sur Pressensé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 Romain,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J'ai croisé un de vos véhicules en fin de journée hier vers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Pressensé. Je travaille sur la partie planning équipe + suivi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chantier avec quelques ateliers étanchéité du Rhône.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de pitch ici — juste 15 min en visio pour voir si ce qu'on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 peut vous être utile à votre taille.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14h ou jeudi matin, ça vous va ?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Hugo</a:t>
            </a:r>
            <a:endParaRPr lang="en-US" sz="938" dirty="0"/>
          </a:p>
        </p:txBody>
      </p:sp>
      <p:sp>
        <p:nvSpPr>
          <p:cNvPr id="262" name="Shape 234"/>
          <p:cNvSpPr/>
          <p:nvPr/>
        </p:nvSpPr>
        <p:spPr>
          <a:xfrm>
            <a:off x="381000" y="21113704"/>
            <a:ext cx="1295400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263" name="Shape 235"/>
          <p:cNvSpPr/>
          <p:nvPr/>
        </p:nvSpPr>
        <p:spPr>
          <a:xfrm>
            <a:off x="381000" y="21321522"/>
            <a:ext cx="2074461" cy="388712"/>
          </a:xfrm>
          <a:prstGeom prst="roundRect">
            <a:avLst>
              <a:gd name="adj" fmla="val 19603"/>
            </a:avLst>
          </a:prstGeom>
          <a:solidFill>
            <a:srgbClr val="141C2D"/>
          </a:solidFill>
          <a:ln/>
        </p:spPr>
      </p:sp>
      <p:pic>
        <p:nvPicPr>
          <p:cNvPr id="26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2423" y="21449177"/>
            <a:ext cx="133336" cy="133336"/>
          </a:xfrm>
          <a:prstGeom prst="rect">
            <a:avLst/>
          </a:prstGeom>
        </p:spPr>
      </p:pic>
      <p:sp>
        <p:nvSpPr>
          <p:cNvPr id="265" name="Text 236"/>
          <p:cNvSpPr/>
          <p:nvPr/>
        </p:nvSpPr>
        <p:spPr>
          <a:xfrm>
            <a:off x="723832" y="21435782"/>
            <a:ext cx="1598306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Marquer comme contacté</a:t>
            </a:r>
            <a:endParaRPr lang="en-US" sz="975" dirty="0"/>
          </a:p>
        </p:txBody>
      </p:sp>
      <p:sp>
        <p:nvSpPr>
          <p:cNvPr id="266" name="Shape 237"/>
          <p:cNvSpPr/>
          <p:nvPr/>
        </p:nvSpPr>
        <p:spPr>
          <a:xfrm>
            <a:off x="2550711" y="21312864"/>
            <a:ext cx="2455258" cy="406030"/>
          </a:xfrm>
          <a:prstGeom prst="roundRect">
            <a:avLst>
              <a:gd name="adj" fmla="val 18767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67" name="Text 238"/>
          <p:cNvSpPr/>
          <p:nvPr/>
        </p:nvSpPr>
        <p:spPr>
          <a:xfrm>
            <a:off x="2692720" y="21435823"/>
            <a:ext cx="2171240" cy="198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en CSV (lead + 4 similaires)</a:t>
            </a:r>
            <a:endParaRPr lang="en-US" sz="975" dirty="0"/>
          </a:p>
        </p:txBody>
      </p:sp>
      <p:sp>
        <p:nvSpPr>
          <p:cNvPr id="268" name="Shape 239"/>
          <p:cNvSpPr/>
          <p:nvPr/>
        </p:nvSpPr>
        <p:spPr>
          <a:xfrm>
            <a:off x="5101219" y="21312864"/>
            <a:ext cx="843247" cy="406030"/>
          </a:xfrm>
          <a:prstGeom prst="roundRect">
            <a:avLst>
              <a:gd name="adj" fmla="val 18767"/>
            </a:avLst>
          </a:prstGeom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69" name="Text 240"/>
          <p:cNvSpPr/>
          <p:nvPr/>
        </p:nvSpPr>
        <p:spPr>
          <a:xfrm>
            <a:off x="5243228" y="21435823"/>
            <a:ext cx="559228" cy="198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Archiver</a:t>
            </a:r>
            <a:endParaRPr lang="en-US" sz="975" dirty="0"/>
          </a:p>
        </p:txBody>
      </p:sp>
      <p:sp>
        <p:nvSpPr>
          <p:cNvPr id="270" name="Text 241"/>
          <p:cNvSpPr/>
          <p:nvPr/>
        </p:nvSpPr>
        <p:spPr>
          <a:xfrm>
            <a:off x="11708241" y="21437947"/>
            <a:ext cx="1702959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ajouté au plan du</a:t>
            </a:r>
            <a:pPr algn="l" indent="0" marL="0">
              <a:buNone/>
            </a:pPr>
            <a:r>
              <a:rPr lang="en-US" sz="938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mai</a:t>
            </a:r>
            <a:endParaRPr lang="en-US" sz="9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18287999"/>
          </a:xfrm>
          <a:prstGeom prst="rect">
            <a:avLst/>
          </a:prstGeom>
          <a:ln/>
          <a:effectLst>
            <a:outerShdw sx="100000" sy="100000" kx="0" ky="0" algn="bl" rotWithShape="0" blurRad="381000" dist="762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000625" y="2227686"/>
            <a:ext cx="3714750" cy="13832559"/>
          </a:xfrm>
          <a:prstGeom prst="roundRect">
            <a:avLst>
              <a:gd name="adj" fmla="val 9231"/>
            </a:avLst>
          </a:prstGeom>
          <a:solidFill>
            <a:srgbClr val="F6F4EF"/>
          </a:solidFill>
          <a:ln/>
          <a:effectLst>
            <a:outerShdw sx="100000" sy="100000" kx="0" ky="0" algn="bl" rotWithShape="0" blurRad="228600" dist="38100" dir="5400000">
              <a:srgbClr val="141C2D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00625" y="2227686"/>
            <a:ext cx="3714750" cy="13832559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5" name="Text 3"/>
          <p:cNvSpPr/>
          <p:nvPr/>
        </p:nvSpPr>
        <p:spPr>
          <a:xfrm>
            <a:off x="5172048" y="2341947"/>
            <a:ext cx="43534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27180" y="2427251"/>
            <a:ext cx="184709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192785" y="2416428"/>
            <a:ext cx="180989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354670" y="2427251"/>
            <a:ext cx="265482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5000625" y="2646772"/>
            <a:ext cx="3714750" cy="6164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00625" y="3254532"/>
            <a:ext cx="371475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172048" y="2845865"/>
            <a:ext cx="209509" cy="209509"/>
          </a:xfrm>
          <a:prstGeom prst="roundRect">
            <a:avLst>
              <a:gd name="adj" fmla="val 22732"/>
            </a:avLst>
          </a:prstGeom>
          <a:solidFill>
            <a:srgbClr val="C2542D"/>
          </a:solidFill>
          <a:ln/>
        </p:spPr>
      </p:sp>
      <p:sp>
        <p:nvSpPr>
          <p:cNvPr id="12" name="Text 10"/>
          <p:cNvSpPr/>
          <p:nvPr/>
        </p:nvSpPr>
        <p:spPr>
          <a:xfrm>
            <a:off x="5249844" y="2879149"/>
            <a:ext cx="1300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457730" y="2870489"/>
            <a:ext cx="664545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5" kern="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SnapLead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74593" y="2812109"/>
            <a:ext cx="1163322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Capturé le 23 mai 2026</a:t>
            </a:r>
            <a:endParaRPr lang="en-US" sz="938" dirty="0"/>
          </a:p>
        </p:txBody>
      </p:sp>
      <p:sp>
        <p:nvSpPr>
          <p:cNvPr id="15" name="Shape 13"/>
          <p:cNvSpPr/>
          <p:nvPr/>
        </p:nvSpPr>
        <p:spPr>
          <a:xfrm>
            <a:off x="7571224" y="2922104"/>
            <a:ext cx="49722" cy="57096"/>
          </a:xfrm>
          <a:prstGeom prst="ellipse">
            <a:avLst/>
          </a:prstGeom>
          <a:solidFill>
            <a:srgbClr val="1F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7678042" y="2799119"/>
            <a:ext cx="84685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à contacter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72048" y="3453693"/>
            <a:ext cx="1634268" cy="191312"/>
          </a:xfrm>
          <a:prstGeom prst="roundRect">
            <a:avLst>
              <a:gd name="adj" fmla="val 50000"/>
            </a:avLst>
          </a:prstGeom>
          <a:solidFill>
            <a:srgbClr val="C2542D">
              <a:alpha val="10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759" y="3506459"/>
            <a:ext cx="85711" cy="8571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91096" y="3482240"/>
            <a:ext cx="1405709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4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Capturé hier · Villeurbanne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172048" y="3759262"/>
            <a:ext cx="3473061" cy="500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spc="-99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</a:t>
            </a:r>
            <a:pPr algn="l" indent="0" marL="0">
              <a:lnSpc>
                <a:spcPct val="98000"/>
              </a:lnSpc>
              <a:buNone/>
            </a:pPr>
            <a:r>
              <a:rPr lang="en-US" sz="3300" i="1" spc="-99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Pluvia</a:t>
            </a:r>
            <a:endParaRPr lang="en-US" sz="3300" dirty="0"/>
          </a:p>
        </p:txBody>
      </p:sp>
      <p:sp>
        <p:nvSpPr>
          <p:cNvPr id="21" name="Shape 18"/>
          <p:cNvSpPr/>
          <p:nvPr/>
        </p:nvSpPr>
        <p:spPr>
          <a:xfrm>
            <a:off x="5172048" y="4336176"/>
            <a:ext cx="636037" cy="140169"/>
          </a:xfrm>
          <a:prstGeom prst="roundRect">
            <a:avLst>
              <a:gd name="adj" fmla="val 20386"/>
            </a:avLst>
          </a:prstGeom>
          <a:solidFill>
            <a:srgbClr val="F1EDE4"/>
          </a:solidFill>
          <a:ln/>
        </p:spPr>
      </p:sp>
      <p:sp>
        <p:nvSpPr>
          <p:cNvPr id="22" name="Text 19"/>
          <p:cNvSpPr/>
          <p:nvPr/>
        </p:nvSpPr>
        <p:spPr>
          <a:xfrm>
            <a:off x="5229198" y="4345701"/>
            <a:ext cx="597937" cy="159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 4399C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884258" y="4336988"/>
            <a:ext cx="14687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Étanchéité · Couverture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5172048" y="4632209"/>
            <a:ext cx="3473061" cy="1181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Petit atelier indépendant, 6 ans d'ancienneté, équipe consolidée. Spécialité étanchéité bitumineuse + zinguerie patrimoniale — segment à marges. Croissance régulière, pas de fonds derrière. Décisionnaire unique : le gérant.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172048" y="5946564"/>
            <a:ext cx="3371904" cy="550596"/>
          </a:xfrm>
          <a:prstGeom prst="roundRect">
            <a:avLst>
              <a:gd name="adj" fmla="val 17299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14043" y="6069482"/>
            <a:ext cx="304759" cy="304759"/>
          </a:xfrm>
          <a:prstGeom prst="roundRect">
            <a:avLst>
              <a:gd name="adj" fmla="val 25003"/>
            </a:avLst>
          </a:prstGeom>
          <a:solidFill>
            <a:srgbClr val="F1EDE4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2" y="6150391"/>
            <a:ext cx="142875" cy="14287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733062" y="6070293"/>
            <a:ext cx="2497498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5733062" y="6204508"/>
            <a:ext cx="2497498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04 78 84 22 19</a:t>
            </a:r>
            <a:endParaRPr lang="en-US" sz="1013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20" y="6155193"/>
            <a:ext cx="133336" cy="133336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172048" y="6573332"/>
            <a:ext cx="3371904" cy="550596"/>
          </a:xfrm>
          <a:prstGeom prst="roundRect">
            <a:avLst>
              <a:gd name="adj" fmla="val 17299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14043" y="6696251"/>
            <a:ext cx="304759" cy="304759"/>
          </a:xfrm>
          <a:prstGeom prst="roundRect">
            <a:avLst>
              <a:gd name="adj" fmla="val 25003"/>
            </a:avLst>
          </a:prstGeom>
          <a:solidFill>
            <a:srgbClr val="F1EDE4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52" y="6777160"/>
            <a:ext cx="142875" cy="14287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733062" y="6697062"/>
            <a:ext cx="2497498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· siège</a:t>
            </a:r>
            <a:endParaRPr lang="en-US" sz="825" dirty="0"/>
          </a:p>
        </p:txBody>
      </p:sp>
      <p:sp>
        <p:nvSpPr>
          <p:cNvPr id="35" name="Text 29"/>
          <p:cNvSpPr/>
          <p:nvPr/>
        </p:nvSpPr>
        <p:spPr>
          <a:xfrm>
            <a:off x="5733062" y="6831280"/>
            <a:ext cx="2497498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rue F. de Pressensé, 69100 Villeurbanne</a:t>
            </a:r>
            <a:endParaRPr lang="en-US" sz="1013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620" y="6781962"/>
            <a:ext cx="133336" cy="133336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172048" y="7200101"/>
            <a:ext cx="3371904" cy="550596"/>
          </a:xfrm>
          <a:prstGeom prst="roundRect">
            <a:avLst>
              <a:gd name="adj" fmla="val 17299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314043" y="7323022"/>
            <a:ext cx="304759" cy="304759"/>
          </a:xfrm>
          <a:prstGeom prst="roundRect">
            <a:avLst>
              <a:gd name="adj" fmla="val 25003"/>
            </a:avLst>
          </a:prstGeom>
          <a:solidFill>
            <a:srgbClr val="F1EDE4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52" y="7403928"/>
            <a:ext cx="142875" cy="14287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733062" y="7323833"/>
            <a:ext cx="2497498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</a:t>
            </a:r>
            <a:endParaRPr lang="en-US" sz="825" dirty="0"/>
          </a:p>
        </p:txBody>
      </p:sp>
      <p:sp>
        <p:nvSpPr>
          <p:cNvPr id="41" name="Text 33"/>
          <p:cNvSpPr/>
          <p:nvPr/>
        </p:nvSpPr>
        <p:spPr>
          <a:xfrm>
            <a:off x="5733062" y="7458048"/>
            <a:ext cx="2497498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atelier-pluvia.fr</a:t>
            </a:r>
            <a:endParaRPr lang="en-US" sz="1013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8620" y="7408733"/>
            <a:ext cx="133336" cy="133336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172048" y="7922122"/>
            <a:ext cx="3371904" cy="609722"/>
          </a:xfrm>
          <a:prstGeom prst="roundRect">
            <a:avLst>
              <a:gd name="adj" fmla="val 18746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333053" y="8064116"/>
            <a:ext cx="458824" cy="36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0" spc="-114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2850" dirty="0"/>
          </a:p>
        </p:txBody>
      </p:sp>
      <p:sp>
        <p:nvSpPr>
          <p:cNvPr id="45" name="Text 36"/>
          <p:cNvSpPr/>
          <p:nvPr/>
        </p:nvSpPr>
        <p:spPr>
          <a:xfrm>
            <a:off x="5734686" y="8211321"/>
            <a:ext cx="364250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A82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/100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156072" y="8112215"/>
            <a:ext cx="66634" cy="66634"/>
          </a:xfrm>
          <a:prstGeom prst="ellipse">
            <a:avLst/>
          </a:prstGeom>
          <a:solidFill>
            <a:srgbClr val="1F7A52"/>
          </a:solidFill>
          <a:ln/>
        </p:spPr>
      </p:sp>
      <p:sp>
        <p:nvSpPr>
          <p:cNvPr id="47" name="Text 38"/>
          <p:cNvSpPr/>
          <p:nvPr/>
        </p:nvSpPr>
        <p:spPr>
          <a:xfrm>
            <a:off x="6279802" y="8065469"/>
            <a:ext cx="772174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élevé</a:t>
            </a:r>
            <a:endParaRPr lang="en-US" sz="975" dirty="0"/>
          </a:p>
        </p:txBody>
      </p:sp>
      <p:sp>
        <p:nvSpPr>
          <p:cNvPr id="48" name="Text 39"/>
          <p:cNvSpPr/>
          <p:nvPr/>
        </p:nvSpPr>
        <p:spPr>
          <a:xfrm>
            <a:off x="6156072" y="8254211"/>
            <a:ext cx="2017392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le détail du matching</a:t>
            </a:r>
            <a:endParaRPr lang="en-US" sz="9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0601" y="8150776"/>
            <a:ext cx="152346" cy="152346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5172048" y="8703265"/>
            <a:ext cx="3371904" cy="189519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5180707" y="9424474"/>
            <a:ext cx="1086445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52" name="Shape 42"/>
          <p:cNvSpPr/>
          <p:nvPr/>
        </p:nvSpPr>
        <p:spPr>
          <a:xfrm>
            <a:off x="6258493" y="8711925"/>
            <a:ext cx="9525" cy="721208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53" name="Text 43"/>
          <p:cNvSpPr/>
          <p:nvPr/>
        </p:nvSpPr>
        <p:spPr>
          <a:xfrm>
            <a:off x="5333053" y="8826183"/>
            <a:ext cx="84929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</a:t>
            </a:r>
            <a:endParaRPr lang="en-US" sz="863" dirty="0"/>
          </a:p>
        </p:txBody>
      </p:sp>
      <p:sp>
        <p:nvSpPr>
          <p:cNvPr id="54" name="Text 44"/>
          <p:cNvSpPr/>
          <p:nvPr/>
        </p:nvSpPr>
        <p:spPr>
          <a:xfrm>
            <a:off x="5333053" y="9002817"/>
            <a:ext cx="849294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832 451 904</a:t>
            </a:r>
            <a:endParaRPr lang="en-US" sz="1013" dirty="0"/>
          </a:p>
        </p:txBody>
      </p:sp>
      <p:sp>
        <p:nvSpPr>
          <p:cNvPr id="55" name="Shape 45"/>
          <p:cNvSpPr/>
          <p:nvPr/>
        </p:nvSpPr>
        <p:spPr>
          <a:xfrm>
            <a:off x="6267152" y="9424474"/>
            <a:ext cx="1467445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56" name="Shape 46"/>
          <p:cNvSpPr/>
          <p:nvPr/>
        </p:nvSpPr>
        <p:spPr>
          <a:xfrm>
            <a:off x="7725938" y="8711925"/>
            <a:ext cx="9525" cy="721208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57" name="Text 47"/>
          <p:cNvSpPr/>
          <p:nvPr/>
        </p:nvSpPr>
        <p:spPr>
          <a:xfrm>
            <a:off x="6419498" y="8826183"/>
            <a:ext cx="123029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SIRET</a:t>
            </a:r>
            <a:endParaRPr lang="en-US" sz="863" dirty="0"/>
          </a:p>
        </p:txBody>
      </p:sp>
      <p:sp>
        <p:nvSpPr>
          <p:cNvPr id="58" name="Text 48"/>
          <p:cNvSpPr/>
          <p:nvPr/>
        </p:nvSpPr>
        <p:spPr>
          <a:xfrm>
            <a:off x="6419498" y="9002817"/>
            <a:ext cx="1230294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832 451 904 00018</a:t>
            </a:r>
            <a:endParaRPr lang="en-US" sz="1013" dirty="0"/>
          </a:p>
        </p:txBody>
      </p:sp>
      <p:sp>
        <p:nvSpPr>
          <p:cNvPr id="59" name="Shape 49"/>
          <p:cNvSpPr/>
          <p:nvPr/>
        </p:nvSpPr>
        <p:spPr>
          <a:xfrm>
            <a:off x="7734597" y="9424474"/>
            <a:ext cx="800695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60" name="Shape 50"/>
          <p:cNvSpPr/>
          <p:nvPr/>
        </p:nvSpPr>
        <p:spPr>
          <a:xfrm>
            <a:off x="8526633" y="8711925"/>
            <a:ext cx="9525" cy="721208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61" name="Text 51"/>
          <p:cNvSpPr/>
          <p:nvPr/>
        </p:nvSpPr>
        <p:spPr>
          <a:xfrm>
            <a:off x="7886943" y="8826183"/>
            <a:ext cx="563544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NAF</a:t>
            </a:r>
            <a:endParaRPr lang="en-US" sz="863" dirty="0"/>
          </a:p>
        </p:txBody>
      </p:sp>
      <p:sp>
        <p:nvSpPr>
          <p:cNvPr id="62" name="Text 52"/>
          <p:cNvSpPr/>
          <p:nvPr/>
        </p:nvSpPr>
        <p:spPr>
          <a:xfrm>
            <a:off x="7886943" y="9141362"/>
            <a:ext cx="563544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4399C</a:t>
            </a:r>
            <a:endParaRPr lang="en-US" sz="1013" dirty="0"/>
          </a:p>
        </p:txBody>
      </p:sp>
      <p:sp>
        <p:nvSpPr>
          <p:cNvPr id="63" name="Shape 53"/>
          <p:cNvSpPr/>
          <p:nvPr/>
        </p:nvSpPr>
        <p:spPr>
          <a:xfrm>
            <a:off x="5180707" y="10007135"/>
            <a:ext cx="2010668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64" name="Shape 54"/>
          <p:cNvSpPr/>
          <p:nvPr/>
        </p:nvSpPr>
        <p:spPr>
          <a:xfrm>
            <a:off x="7182716" y="9433132"/>
            <a:ext cx="9525" cy="582662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65" name="Text 55"/>
          <p:cNvSpPr/>
          <p:nvPr/>
        </p:nvSpPr>
        <p:spPr>
          <a:xfrm>
            <a:off x="5333053" y="9547393"/>
            <a:ext cx="1773517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Libellé NAF</a:t>
            </a:r>
            <a:endParaRPr lang="en-US" sz="863" dirty="0"/>
          </a:p>
        </p:txBody>
      </p:sp>
      <p:sp>
        <p:nvSpPr>
          <p:cNvPr id="66" name="Text 56"/>
          <p:cNvSpPr/>
          <p:nvPr/>
        </p:nvSpPr>
        <p:spPr>
          <a:xfrm>
            <a:off x="5333053" y="9724024"/>
            <a:ext cx="1773517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Travaux d'étanchéité</a:t>
            </a:r>
            <a:endParaRPr lang="en-US" sz="1013" dirty="0"/>
          </a:p>
        </p:txBody>
      </p:sp>
      <p:sp>
        <p:nvSpPr>
          <p:cNvPr id="67" name="Shape 57"/>
          <p:cNvSpPr/>
          <p:nvPr/>
        </p:nvSpPr>
        <p:spPr>
          <a:xfrm>
            <a:off x="8526634" y="9433132"/>
            <a:ext cx="9525" cy="582662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68" name="Text 58"/>
          <p:cNvSpPr/>
          <p:nvPr/>
        </p:nvSpPr>
        <p:spPr>
          <a:xfrm>
            <a:off x="7343720" y="9547393"/>
            <a:ext cx="1106767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</a:t>
            </a:r>
            <a:endParaRPr lang="en-US" sz="863" dirty="0"/>
          </a:p>
        </p:txBody>
      </p:sp>
      <p:sp>
        <p:nvSpPr>
          <p:cNvPr id="69" name="Text 59"/>
          <p:cNvSpPr/>
          <p:nvPr/>
        </p:nvSpPr>
        <p:spPr>
          <a:xfrm>
            <a:off x="7343720" y="9724024"/>
            <a:ext cx="1106767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mars 2018</a:t>
            </a:r>
            <a:endParaRPr lang="en-US" sz="1013" dirty="0"/>
          </a:p>
        </p:txBody>
      </p:sp>
      <p:sp>
        <p:nvSpPr>
          <p:cNvPr id="70" name="Text 60"/>
          <p:cNvSpPr/>
          <p:nvPr/>
        </p:nvSpPr>
        <p:spPr>
          <a:xfrm>
            <a:off x="5333053" y="10130055"/>
            <a:ext cx="3141391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71" name="Text 61"/>
          <p:cNvSpPr/>
          <p:nvPr/>
        </p:nvSpPr>
        <p:spPr>
          <a:xfrm>
            <a:off x="5333053" y="10306686"/>
            <a:ext cx="3141391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à 9 salariés</a:t>
            </a:r>
            <a:endParaRPr lang="en-US" sz="1013" dirty="0"/>
          </a:p>
        </p:txBody>
      </p:sp>
      <p:sp>
        <p:nvSpPr>
          <p:cNvPr id="72" name="Shape 62"/>
          <p:cNvSpPr/>
          <p:nvPr/>
        </p:nvSpPr>
        <p:spPr>
          <a:xfrm>
            <a:off x="5172048" y="10769879"/>
            <a:ext cx="3371904" cy="678589"/>
          </a:xfrm>
          <a:prstGeom prst="roundRect">
            <a:avLst>
              <a:gd name="adj" fmla="val 16844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73" name="Text 63"/>
          <p:cNvSpPr/>
          <p:nvPr/>
        </p:nvSpPr>
        <p:spPr>
          <a:xfrm>
            <a:off x="5333053" y="10930885"/>
            <a:ext cx="152497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74" name="Text 64"/>
          <p:cNvSpPr/>
          <p:nvPr/>
        </p:nvSpPr>
        <p:spPr>
          <a:xfrm>
            <a:off x="5333053" y="11107516"/>
            <a:ext cx="1524974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Romain Géraud</a:t>
            </a:r>
            <a:endParaRPr lang="en-US" sz="1050" dirty="0"/>
          </a:p>
        </p:txBody>
      </p:sp>
      <p:sp>
        <p:nvSpPr>
          <p:cNvPr id="75" name="Text 65"/>
          <p:cNvSpPr/>
          <p:nvPr/>
        </p:nvSpPr>
        <p:spPr>
          <a:xfrm>
            <a:off x="6934173" y="10930885"/>
            <a:ext cx="152497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estimé</a:t>
            </a:r>
            <a:endParaRPr lang="en-US" sz="863" dirty="0"/>
          </a:p>
        </p:txBody>
      </p:sp>
      <p:sp>
        <p:nvSpPr>
          <p:cNvPr id="76" name="Text 66"/>
          <p:cNvSpPr/>
          <p:nvPr/>
        </p:nvSpPr>
        <p:spPr>
          <a:xfrm>
            <a:off x="6934173" y="11107516"/>
            <a:ext cx="1524974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740 K€ (2024)</a:t>
            </a:r>
            <a:endParaRPr lang="en-US" sz="1050" dirty="0"/>
          </a:p>
        </p:txBody>
      </p:sp>
      <p:sp>
        <p:nvSpPr>
          <p:cNvPr id="77" name="Text 67"/>
          <p:cNvSpPr/>
          <p:nvPr/>
        </p:nvSpPr>
        <p:spPr>
          <a:xfrm>
            <a:off x="5172048" y="11657978"/>
            <a:ext cx="3473061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aller plus loin</a:t>
            </a:r>
            <a:endParaRPr lang="en-US" sz="863" dirty="0"/>
          </a:p>
        </p:txBody>
      </p:sp>
      <p:sp>
        <p:nvSpPr>
          <p:cNvPr id="78" name="Shape 68"/>
          <p:cNvSpPr/>
          <p:nvPr/>
        </p:nvSpPr>
        <p:spPr>
          <a:xfrm>
            <a:off x="5172048" y="11929859"/>
            <a:ext cx="3371904" cy="988963"/>
          </a:xfrm>
          <a:prstGeom prst="roundRect">
            <a:avLst>
              <a:gd name="adj" fmla="val 11558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5333053" y="12214797"/>
            <a:ext cx="419086" cy="419086"/>
          </a:xfrm>
          <a:prstGeom prst="roundRect">
            <a:avLst>
              <a:gd name="adj" fmla="val 22728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7312" y="12329058"/>
            <a:ext cx="190500" cy="190500"/>
          </a:xfrm>
          <a:prstGeom prst="rect">
            <a:avLst/>
          </a:prstGeom>
        </p:spPr>
      </p:pic>
      <p:sp>
        <p:nvSpPr>
          <p:cNvPr id="81" name="Text 70"/>
          <p:cNvSpPr/>
          <p:nvPr/>
        </p:nvSpPr>
        <p:spPr>
          <a:xfrm>
            <a:off x="5885476" y="12090865"/>
            <a:ext cx="226891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RECOMMANDÉ</a:t>
            </a:r>
            <a:endParaRPr lang="en-US" sz="788" dirty="0"/>
          </a:p>
        </p:txBody>
      </p:sp>
      <p:sp>
        <p:nvSpPr>
          <p:cNvPr id="82" name="Text 71"/>
          <p:cNvSpPr/>
          <p:nvPr/>
        </p:nvSpPr>
        <p:spPr>
          <a:xfrm>
            <a:off x="5885476" y="12239761"/>
            <a:ext cx="2268912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commerciales</a:t>
            </a:r>
            <a:endParaRPr lang="en-US" sz="1125" dirty="0"/>
          </a:p>
        </p:txBody>
      </p:sp>
      <p:sp>
        <p:nvSpPr>
          <p:cNvPr id="83" name="Text 72"/>
          <p:cNvSpPr/>
          <p:nvPr/>
        </p:nvSpPr>
        <p:spPr>
          <a:xfrm>
            <a:off x="5885476" y="12449202"/>
            <a:ext cx="2268912" cy="34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d'approche, script d'appel, email de prise de contact</a:t>
            </a:r>
            <a:endParaRPr lang="en-US" sz="900" dirty="0"/>
          </a:p>
        </p:txBody>
      </p:sp>
      <p:pic>
        <p:nvPicPr>
          <p:cNvPr id="8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1524" y="12338597"/>
            <a:ext cx="171423" cy="171423"/>
          </a:xfrm>
          <a:prstGeom prst="rect">
            <a:avLst/>
          </a:prstGeom>
        </p:spPr>
      </p:pic>
      <p:sp>
        <p:nvSpPr>
          <p:cNvPr id="85" name="Shape 73"/>
          <p:cNvSpPr/>
          <p:nvPr/>
        </p:nvSpPr>
        <p:spPr>
          <a:xfrm>
            <a:off x="5172048" y="13014072"/>
            <a:ext cx="3371904" cy="988963"/>
          </a:xfrm>
          <a:prstGeom prst="roundRect">
            <a:avLst>
              <a:gd name="adj" fmla="val 11558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86" name="Shape 74"/>
          <p:cNvSpPr/>
          <p:nvPr/>
        </p:nvSpPr>
        <p:spPr>
          <a:xfrm>
            <a:off x="5333053" y="13299010"/>
            <a:ext cx="419086" cy="419086"/>
          </a:xfrm>
          <a:prstGeom prst="roundRect">
            <a:avLst>
              <a:gd name="adj" fmla="val 22728"/>
            </a:avLst>
          </a:prstGeom>
          <a:solidFill>
            <a:srgbClr val="C2542D">
              <a:alpha val="10000"/>
            </a:srgbClr>
          </a:solidFill>
          <a:ln/>
        </p:spPr>
      </p:sp>
      <p:pic>
        <p:nvPicPr>
          <p:cNvPr id="8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7312" y="13413271"/>
            <a:ext cx="190500" cy="190500"/>
          </a:xfrm>
          <a:prstGeom prst="rect">
            <a:avLst/>
          </a:prstGeom>
        </p:spPr>
      </p:pic>
      <p:sp>
        <p:nvSpPr>
          <p:cNvPr id="88" name="Text 75"/>
          <p:cNvSpPr/>
          <p:nvPr/>
        </p:nvSpPr>
        <p:spPr>
          <a:xfrm>
            <a:off x="5885476" y="13175078"/>
            <a:ext cx="226891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ÉLARGI</a:t>
            </a:r>
            <a:endParaRPr lang="en-US" sz="788" dirty="0"/>
          </a:p>
        </p:txBody>
      </p:sp>
      <p:sp>
        <p:nvSpPr>
          <p:cNvPr id="89" name="Text 76"/>
          <p:cNvSpPr/>
          <p:nvPr/>
        </p:nvSpPr>
        <p:spPr>
          <a:xfrm>
            <a:off x="5885476" y="13323974"/>
            <a:ext cx="2268912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entreprises similaires</a:t>
            </a:r>
            <a:endParaRPr lang="en-US" sz="1125" dirty="0"/>
          </a:p>
        </p:txBody>
      </p:sp>
      <p:sp>
        <p:nvSpPr>
          <p:cNvPr id="90" name="Text 77"/>
          <p:cNvSpPr/>
          <p:nvPr/>
        </p:nvSpPr>
        <p:spPr>
          <a:xfrm>
            <a:off x="5885476" y="13533415"/>
            <a:ext cx="2268912" cy="34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métier · département 69 · taille équivalente</a:t>
            </a:r>
            <a:endParaRPr lang="en-US" sz="900" dirty="0"/>
          </a:p>
        </p:txBody>
      </p:sp>
      <p:pic>
        <p:nvPicPr>
          <p:cNvPr id="91" name="Image 11" descr="preencoded.png">    </p:cNvPr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>
            <a:off x="8211524" y="13422810"/>
            <a:ext cx="171423" cy="171423"/>
          </a:xfrm>
          <a:prstGeom prst="rect">
            <a:avLst/>
          </a:prstGeom>
        </p:spPr>
      </p:pic>
      <p:sp>
        <p:nvSpPr>
          <p:cNvPr id="92" name="Shape 78"/>
          <p:cNvSpPr/>
          <p:nvPr/>
        </p:nvSpPr>
        <p:spPr>
          <a:xfrm>
            <a:off x="5172048" y="14098285"/>
            <a:ext cx="3371904" cy="988963"/>
          </a:xfrm>
          <a:prstGeom prst="roundRect">
            <a:avLst>
              <a:gd name="adj" fmla="val 11558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93" name="Shape 79"/>
          <p:cNvSpPr/>
          <p:nvPr/>
        </p:nvSpPr>
        <p:spPr>
          <a:xfrm>
            <a:off x="5333053" y="14383223"/>
            <a:ext cx="419086" cy="419086"/>
          </a:xfrm>
          <a:prstGeom prst="roundRect">
            <a:avLst>
              <a:gd name="adj" fmla="val 22728"/>
            </a:avLst>
          </a:prstGeom>
          <a:solidFill>
            <a:srgbClr val="C2542D">
              <a:alpha val="10000"/>
            </a:srgbClr>
          </a:solidFill>
          <a:ln/>
        </p:spPr>
      </p:sp>
      <p:pic>
        <p:nvPicPr>
          <p:cNvPr id="9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7312" y="14497484"/>
            <a:ext cx="190500" cy="190500"/>
          </a:xfrm>
          <a:prstGeom prst="rect">
            <a:avLst/>
          </a:prstGeom>
        </p:spPr>
      </p:pic>
      <p:sp>
        <p:nvSpPr>
          <p:cNvPr id="95" name="Text 80"/>
          <p:cNvSpPr/>
          <p:nvPr/>
        </p:nvSpPr>
        <p:spPr>
          <a:xfrm>
            <a:off x="5885476" y="14259291"/>
            <a:ext cx="226891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</a:t>
            </a:r>
            <a:endParaRPr lang="en-US" sz="788" dirty="0"/>
          </a:p>
        </p:txBody>
      </p:sp>
      <p:sp>
        <p:nvSpPr>
          <p:cNvPr id="96" name="Text 81"/>
          <p:cNvSpPr/>
          <p:nvPr/>
        </p:nvSpPr>
        <p:spPr>
          <a:xfrm>
            <a:off x="5885476" y="14408187"/>
            <a:ext cx="2268912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complète</a:t>
            </a:r>
            <a:endParaRPr lang="en-US" sz="1125" dirty="0"/>
          </a:p>
        </p:txBody>
      </p:sp>
      <p:sp>
        <p:nvSpPr>
          <p:cNvPr id="97" name="Text 82"/>
          <p:cNvSpPr/>
          <p:nvPr/>
        </p:nvSpPr>
        <p:spPr>
          <a:xfrm>
            <a:off x="5885476" y="14617628"/>
            <a:ext cx="2268912" cy="34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SIREN, financier, dirigeants, historique Pappers</a:t>
            </a:r>
            <a:endParaRPr lang="en-US" sz="900" dirty="0"/>
          </a:p>
        </p:txBody>
      </p:sp>
      <p:pic>
        <p:nvPicPr>
          <p:cNvPr id="98" name="Image 13" descr="preencoded.png">    </p:cNvPr>
          <p:cNvPicPr>
            <a:picLocks noChangeAspect="1"/>
          </p:cNvPicPr>
          <p:nvPr/>
        </p:nvPicPr>
        <p:blipFill>
          <a:blip r:embed="rId14">
            <a:alphaModFix amt="45000"/>
          </a:blip>
          <a:stretch>
            <a:fillRect/>
          </a:stretch>
        </p:blipFill>
        <p:spPr>
          <a:xfrm>
            <a:off x="8211524" y="14507020"/>
            <a:ext cx="171423" cy="171423"/>
          </a:xfrm>
          <a:prstGeom prst="rect">
            <a:avLst/>
          </a:prstGeom>
        </p:spPr>
      </p:pic>
      <p:sp>
        <p:nvSpPr>
          <p:cNvPr id="99" name="Shape 83"/>
          <p:cNvSpPr/>
          <p:nvPr/>
        </p:nvSpPr>
        <p:spPr>
          <a:xfrm>
            <a:off x="5172048" y="15334844"/>
            <a:ext cx="1647866" cy="401701"/>
          </a:xfrm>
          <a:prstGeom prst="roundRect">
            <a:avLst>
              <a:gd name="adj" fmla="val 23712"/>
            </a:avLst>
          </a:prstGeom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100" name="Text 84"/>
          <p:cNvSpPr/>
          <p:nvPr/>
        </p:nvSpPr>
        <p:spPr>
          <a:xfrm>
            <a:off x="5256907" y="15457803"/>
            <a:ext cx="1478147" cy="193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Archiver</a:t>
            </a:r>
            <a:endParaRPr lang="en-US" sz="938" dirty="0"/>
          </a:p>
        </p:txBody>
      </p:sp>
      <p:sp>
        <p:nvSpPr>
          <p:cNvPr id="101" name="Shape 85"/>
          <p:cNvSpPr/>
          <p:nvPr/>
        </p:nvSpPr>
        <p:spPr>
          <a:xfrm>
            <a:off x="6896086" y="15334844"/>
            <a:ext cx="1647866" cy="401701"/>
          </a:xfrm>
          <a:prstGeom prst="roundRect">
            <a:avLst>
              <a:gd name="adj" fmla="val 23712"/>
            </a:avLst>
          </a:prstGeom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102" name="Text 86"/>
          <p:cNvSpPr/>
          <p:nvPr/>
        </p:nvSpPr>
        <p:spPr>
          <a:xfrm>
            <a:off x="6980945" y="15457803"/>
            <a:ext cx="1478147" cy="193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CSV</a:t>
            </a:r>
            <a:endParaRPr lang="en-US" sz="938" dirty="0"/>
          </a:p>
        </p:txBody>
      </p:sp>
      <p:sp>
        <p:nvSpPr>
          <p:cNvPr id="103" name="Shape 87"/>
          <p:cNvSpPr/>
          <p:nvPr/>
        </p:nvSpPr>
        <p:spPr>
          <a:xfrm>
            <a:off x="6238875" y="15945986"/>
            <a:ext cx="1238250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4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18287999"/>
          </a:xfrm>
          <a:prstGeom prst="rect">
            <a:avLst/>
          </a:prstGeom>
          <a:ln/>
          <a:effectLst>
            <a:outerShdw sx="100000" sy="100000" kx="0" ky="0" algn="bl" rotWithShape="0" blurRad="381000" dist="762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000625" y="1754277"/>
            <a:ext cx="3714750" cy="14779444"/>
          </a:xfrm>
          <a:prstGeom prst="roundRect">
            <a:avLst>
              <a:gd name="adj" fmla="val 9231"/>
            </a:avLst>
          </a:prstGeom>
          <a:solidFill>
            <a:srgbClr val="F6F4EF"/>
          </a:solidFill>
          <a:ln/>
          <a:effectLst>
            <a:outerShdw sx="100000" sy="100000" kx="0" ky="0" algn="bl" rotWithShape="0" blurRad="228600" dist="38100" dir="5400000">
              <a:srgbClr val="141C2D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00625" y="1754277"/>
            <a:ext cx="3714750" cy="14779444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5" name="Text 3"/>
          <p:cNvSpPr/>
          <p:nvPr/>
        </p:nvSpPr>
        <p:spPr>
          <a:xfrm>
            <a:off x="5172048" y="1868539"/>
            <a:ext cx="43534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27180" y="1953846"/>
            <a:ext cx="184709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192785" y="1943019"/>
            <a:ext cx="180989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354670" y="1953846"/>
            <a:ext cx="265482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5000625" y="2173367"/>
            <a:ext cx="3714750" cy="6181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00625" y="2782886"/>
            <a:ext cx="371475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152971" y="2306703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221" y="2401953"/>
            <a:ext cx="152346" cy="15234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91067" y="2324428"/>
            <a:ext cx="261006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Pluvia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591067" y="2445653"/>
            <a:ext cx="2610066" cy="224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6" kern="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commerciales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8220183" y="2306703"/>
            <a:ext cx="342846" cy="342846"/>
          </a:xfrm>
          <a:prstGeom prst="roundRect">
            <a:avLst>
              <a:gd name="adj" fmla="val 22226"/>
            </a:avLst>
          </a:prstGeom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433" y="2401953"/>
            <a:ext cx="152346" cy="15234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72048" y="3050435"/>
            <a:ext cx="79274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254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Recommandé</a:t>
            </a:r>
            <a:endParaRPr lang="en-US" sz="863" dirty="0"/>
          </a:p>
        </p:txBody>
      </p:sp>
      <p:sp>
        <p:nvSpPr>
          <p:cNvPr id="18" name="Text 14"/>
          <p:cNvSpPr/>
          <p:nvPr/>
        </p:nvSpPr>
        <p:spPr>
          <a:xfrm>
            <a:off x="5172048" y="3269486"/>
            <a:ext cx="3473061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50" spc="-64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Demain matin</a:t>
            </a:r>
            <a:pPr algn="l" indent="0" marL="0">
              <a:lnSpc>
                <a:spcPct val="102000"/>
              </a:lnSpc>
              <a:buNone/>
            </a:pPr>
            <a:r>
              <a:rPr lang="en-US" sz="2550" i="1" spc="-64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</a:t>
            </a:r>
            <a:pPr algn="l" indent="0" marL="0">
              <a:lnSpc>
                <a:spcPct val="102000"/>
              </a:lnSpc>
              <a:buNone/>
            </a:pPr>
            <a:r>
              <a:rPr lang="en-US" sz="2550" spc="-64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où entrer</a:t>
            </a:r>
            <a:endParaRPr lang="en-US" sz="2550" dirty="0"/>
          </a:p>
        </p:txBody>
      </p:sp>
      <p:sp>
        <p:nvSpPr>
          <p:cNvPr id="19" name="Text 15"/>
          <p:cNvSpPr/>
          <p:nvPr/>
        </p:nvSpPr>
        <p:spPr>
          <a:xfrm>
            <a:off x="5172048" y="4083237"/>
            <a:ext cx="3473061" cy="42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est prêt à copier-coller. L'angle, le script, l'email — adaptés à ce lead.</a:t>
            </a:r>
            <a:endParaRPr lang="en-US" sz="1013" dirty="0"/>
          </a:p>
        </p:txBody>
      </p:sp>
      <p:sp>
        <p:nvSpPr>
          <p:cNvPr id="20" name="Shape 16"/>
          <p:cNvSpPr/>
          <p:nvPr/>
        </p:nvSpPr>
        <p:spPr>
          <a:xfrm>
            <a:off x="5172048" y="4640393"/>
            <a:ext cx="3371904" cy="2093606"/>
          </a:xfrm>
          <a:prstGeom prst="roundRect">
            <a:avLst>
              <a:gd name="adj" fmla="val 5459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52130" y="4820476"/>
            <a:ext cx="266673" cy="266673"/>
          </a:xfrm>
          <a:prstGeom prst="roundRect">
            <a:avLst>
              <a:gd name="adj" fmla="val 25003"/>
            </a:avLst>
          </a:prstGeom>
          <a:solidFill>
            <a:srgbClr val="C2542D">
              <a:alpha val="1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64" y="4887109"/>
            <a:ext cx="133336" cy="133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94976" y="4873714"/>
            <a:ext cx="1109000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d'approche</a:t>
            </a:r>
            <a:endParaRPr lang="en-US" sz="975" dirty="0"/>
          </a:p>
        </p:txBody>
      </p:sp>
      <p:sp>
        <p:nvSpPr>
          <p:cNvPr id="24" name="Text 19"/>
          <p:cNvSpPr/>
          <p:nvPr/>
        </p:nvSpPr>
        <p:spPr>
          <a:xfrm>
            <a:off x="5352130" y="5182398"/>
            <a:ext cx="3102092" cy="1409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Croisé physiquement sur Pressensé en fin de chantier. Mentionner le véhicule et la zone — ancrage terrain. Éviter l'angle softwarisation à froid : entrer par le compagnonnage et la gestion de planning équipe 6-9 (point de douleur connu à cette taille). »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172048" y="6905423"/>
            <a:ext cx="3371904" cy="4239301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180707" y="6914083"/>
            <a:ext cx="3354586" cy="488292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27" name="Shape 22"/>
          <p:cNvSpPr/>
          <p:nvPr/>
        </p:nvSpPr>
        <p:spPr>
          <a:xfrm>
            <a:off x="5180707" y="7393715"/>
            <a:ext cx="3354586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5333053" y="7073803"/>
            <a:ext cx="1248289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d'appel · 30 s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7684537" y="7028341"/>
            <a:ext cx="698410" cy="251114"/>
          </a:xfrm>
          <a:prstGeom prst="roundRect">
            <a:avLst>
              <a:gd name="adj" fmla="val 1896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446" y="7101536"/>
            <a:ext cx="104721" cy="10472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940792" y="7084626"/>
            <a:ext cx="414446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Copier</a:t>
            </a:r>
            <a:endParaRPr lang="en-US" sz="863" dirty="0"/>
          </a:p>
        </p:txBody>
      </p:sp>
      <p:sp>
        <p:nvSpPr>
          <p:cNvPr id="32" name="Text 26"/>
          <p:cNvSpPr/>
          <p:nvPr/>
        </p:nvSpPr>
        <p:spPr>
          <a:xfrm>
            <a:off x="5352157" y="7554774"/>
            <a:ext cx="3112324" cy="3466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Bonjour, est-ce que je parle bien à Romain Géraud ?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C'est Hugo Marchand. Je vous appelle pas pour vous vendre quoi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que ce soit là tout de suite. J'ai croisé un de vos fourgons hier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en fin d'après-midi sur Pressensé, ça m'a fait penser à vous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contacter.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Je travaille avec plusieurs ateliers étanchéité de votre taille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sur le Rhône (Mercier, Caraïbes Froid…) sur la partie planning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équipe et suivi chantier. 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Vous auriez 15 minutes la semaine prochaine — mardi 14h ou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jeudi matin — pour qu'on regarde si ça peut vous être utile ?</a:t>
            </a:r>
            <a:endParaRPr lang="en-US" sz="938" dirty="0"/>
          </a:p>
        </p:txBody>
      </p:sp>
      <p:sp>
        <p:nvSpPr>
          <p:cNvPr id="33" name="Shape 27"/>
          <p:cNvSpPr/>
          <p:nvPr/>
        </p:nvSpPr>
        <p:spPr>
          <a:xfrm>
            <a:off x="5172048" y="11278063"/>
            <a:ext cx="3371904" cy="4239301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180707" y="11286718"/>
            <a:ext cx="3354586" cy="488292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35" name="Shape 29"/>
          <p:cNvSpPr/>
          <p:nvPr/>
        </p:nvSpPr>
        <p:spPr>
          <a:xfrm>
            <a:off x="5180707" y="11766350"/>
            <a:ext cx="3354586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5333053" y="11446439"/>
            <a:ext cx="1569217" cy="19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de prise de contact</a:t>
            </a:r>
            <a:endParaRPr lang="en-US" sz="975" dirty="0"/>
          </a:p>
        </p:txBody>
      </p:sp>
      <p:sp>
        <p:nvSpPr>
          <p:cNvPr id="37" name="Shape 31"/>
          <p:cNvSpPr/>
          <p:nvPr/>
        </p:nvSpPr>
        <p:spPr>
          <a:xfrm>
            <a:off x="7684537" y="11400981"/>
            <a:ext cx="698410" cy="251114"/>
          </a:xfrm>
          <a:prstGeom prst="roundRect">
            <a:avLst>
              <a:gd name="adj" fmla="val 1896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8446" y="11474176"/>
            <a:ext cx="104721" cy="104721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940792" y="11457261"/>
            <a:ext cx="414446" cy="17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Copier</a:t>
            </a:r>
            <a:endParaRPr lang="en-US" sz="863" dirty="0"/>
          </a:p>
        </p:txBody>
      </p:sp>
      <p:sp>
        <p:nvSpPr>
          <p:cNvPr id="40" name="Text 33"/>
          <p:cNvSpPr/>
          <p:nvPr/>
        </p:nvSpPr>
        <p:spPr>
          <a:xfrm>
            <a:off x="5352157" y="11927409"/>
            <a:ext cx="3112324" cy="3466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 — Vu votre fourgon sur Pressensé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 Romain,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J'ai croisé un de vos véhicules en fin de journée hier vers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Pressensé. Je travaille sur la partie planning équipe + suivi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chantier avec quelques ateliers étanchéité du Rhône.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de pitch ici — juste 15 min en visio pour voir si ce qu'on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 peut vous être utile à votre taille.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14h ou jeudi matin, ça vous va ?</a:t>
            </a: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endParaRPr lang="en-US" sz="938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Hugo</a:t>
            </a:r>
            <a:endParaRPr lang="en-US" sz="938" dirty="0"/>
          </a:p>
        </p:txBody>
      </p:sp>
      <p:sp>
        <p:nvSpPr>
          <p:cNvPr id="41" name="Shape 34"/>
          <p:cNvSpPr/>
          <p:nvPr/>
        </p:nvSpPr>
        <p:spPr>
          <a:xfrm>
            <a:off x="5000625" y="15593534"/>
            <a:ext cx="3714750" cy="768833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42" name="Shape 35"/>
          <p:cNvSpPr/>
          <p:nvPr/>
        </p:nvSpPr>
        <p:spPr>
          <a:xfrm>
            <a:off x="5000625" y="15593534"/>
            <a:ext cx="371475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43" name="Shape 36"/>
          <p:cNvSpPr/>
          <p:nvPr/>
        </p:nvSpPr>
        <p:spPr>
          <a:xfrm>
            <a:off x="5172048" y="15735530"/>
            <a:ext cx="533346" cy="455414"/>
          </a:xfrm>
          <a:prstGeom prst="roundRect">
            <a:avLst>
              <a:gd name="adj" fmla="val 20915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009" y="15877526"/>
            <a:ext cx="171423" cy="171423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5781567" y="15735530"/>
            <a:ext cx="2762385" cy="455414"/>
          </a:xfrm>
          <a:prstGeom prst="roundRect">
            <a:avLst>
              <a:gd name="adj" fmla="val 20915"/>
            </a:avLst>
          </a:prstGeom>
          <a:solidFill>
            <a:srgbClr val="141C2D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626" y="15896534"/>
            <a:ext cx="133336" cy="13333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439035" y="15878810"/>
            <a:ext cx="1656890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Marquer comme contacté</a:t>
            </a:r>
            <a:endParaRPr lang="en-US" sz="1013" dirty="0"/>
          </a:p>
        </p:txBody>
      </p:sp>
      <p:sp>
        <p:nvSpPr>
          <p:cNvPr id="48" name="Shape 39"/>
          <p:cNvSpPr/>
          <p:nvPr/>
        </p:nvSpPr>
        <p:spPr>
          <a:xfrm>
            <a:off x="6238875" y="16419465"/>
            <a:ext cx="1238250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4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18287999"/>
          </a:xfrm>
          <a:prstGeom prst="rect">
            <a:avLst/>
          </a:prstGeom>
          <a:ln/>
          <a:effectLst>
            <a:outerShdw sx="100000" sy="100000" kx="0" ky="0" algn="bl" rotWithShape="0" blurRad="381000" dist="762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000625" y="49653"/>
            <a:ext cx="3714750" cy="18188622"/>
          </a:xfrm>
          <a:prstGeom prst="roundRect">
            <a:avLst>
              <a:gd name="adj" fmla="val 9231"/>
            </a:avLst>
          </a:prstGeom>
          <a:solidFill>
            <a:srgbClr val="F6F4EF"/>
          </a:solidFill>
          <a:ln/>
          <a:effectLst>
            <a:outerShdw sx="100000" sy="100000" kx="0" ky="0" algn="bl" rotWithShape="0" blurRad="228600" dist="38100" dir="5400000">
              <a:srgbClr val="141C2D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00625" y="49653"/>
            <a:ext cx="3714750" cy="18188622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5" name="Text 3"/>
          <p:cNvSpPr/>
          <p:nvPr/>
        </p:nvSpPr>
        <p:spPr>
          <a:xfrm>
            <a:off x="5172048" y="163911"/>
            <a:ext cx="43534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27180" y="249217"/>
            <a:ext cx="184709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192785" y="238395"/>
            <a:ext cx="180989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354670" y="249217"/>
            <a:ext cx="265482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5000625" y="468739"/>
            <a:ext cx="3714750" cy="6181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00625" y="1078258"/>
            <a:ext cx="371475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152971" y="602075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221" y="697325"/>
            <a:ext cx="152346" cy="15234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91067" y="619799"/>
            <a:ext cx="261006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Pluvia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591067" y="741025"/>
            <a:ext cx="2610066" cy="224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6" kern="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Entreprises similaires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8220183" y="602075"/>
            <a:ext cx="342846" cy="342846"/>
          </a:xfrm>
          <a:prstGeom prst="roundRect">
            <a:avLst>
              <a:gd name="adj" fmla="val 22226"/>
            </a:avLst>
          </a:prstGeom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433" y="697325"/>
            <a:ext cx="152346" cy="15234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72048" y="1345811"/>
            <a:ext cx="91450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254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élargi</a:t>
            </a:r>
            <a:endParaRPr lang="en-US" sz="863" dirty="0"/>
          </a:p>
        </p:txBody>
      </p:sp>
      <p:sp>
        <p:nvSpPr>
          <p:cNvPr id="18" name="Text 14"/>
          <p:cNvSpPr/>
          <p:nvPr/>
        </p:nvSpPr>
        <p:spPr>
          <a:xfrm>
            <a:off x="5172048" y="1564858"/>
            <a:ext cx="3473061" cy="776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50" spc="-64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profils </a:t>
            </a:r>
            <a:pPr algn="l" indent="0" marL="0">
              <a:lnSpc>
                <a:spcPct val="102000"/>
              </a:lnSpc>
              <a:buNone/>
            </a:pPr>
            <a:r>
              <a:rPr lang="en-US" sz="2550" i="1" spc="-64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la zone</a:t>
            </a:r>
            <a:endParaRPr lang="en-US" sz="2550" dirty="0"/>
          </a:p>
        </p:txBody>
      </p:sp>
      <p:sp>
        <p:nvSpPr>
          <p:cNvPr id="19" name="Text 15"/>
          <p:cNvSpPr/>
          <p:nvPr/>
        </p:nvSpPr>
        <p:spPr>
          <a:xfrm>
            <a:off x="5172048" y="2398565"/>
            <a:ext cx="3473061" cy="409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Recherchés sur Pappers avec les mêmes critères qu'Atelier Pluvia.</a:t>
            </a:r>
            <a:endParaRPr lang="en-US" sz="975" dirty="0"/>
          </a:p>
        </p:txBody>
      </p:sp>
      <p:sp>
        <p:nvSpPr>
          <p:cNvPr id="20" name="Shape 16"/>
          <p:cNvSpPr/>
          <p:nvPr/>
        </p:nvSpPr>
        <p:spPr>
          <a:xfrm>
            <a:off x="5172048" y="2922305"/>
            <a:ext cx="799139" cy="2511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75957" y="2978589"/>
            <a:ext cx="667521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 4399C</a:t>
            </a:r>
            <a:endParaRPr lang="en-US" sz="863" dirty="0"/>
          </a:p>
        </p:txBody>
      </p:sp>
      <p:sp>
        <p:nvSpPr>
          <p:cNvPr id="22" name="Shape 18"/>
          <p:cNvSpPr/>
          <p:nvPr/>
        </p:nvSpPr>
        <p:spPr>
          <a:xfrm>
            <a:off x="6028283" y="2922305"/>
            <a:ext cx="1041797" cy="2511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32192" y="2978589"/>
            <a:ext cx="91017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Département 69</a:t>
            </a:r>
            <a:endParaRPr lang="en-US" sz="863" dirty="0"/>
          </a:p>
        </p:txBody>
      </p:sp>
      <p:sp>
        <p:nvSpPr>
          <p:cNvPr id="24" name="Shape 20"/>
          <p:cNvSpPr/>
          <p:nvPr/>
        </p:nvSpPr>
        <p:spPr>
          <a:xfrm>
            <a:off x="7127176" y="2922305"/>
            <a:ext cx="884242" cy="2511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31085" y="2978589"/>
            <a:ext cx="75262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salariés</a:t>
            </a:r>
            <a:endParaRPr lang="en-US" sz="863" dirty="0"/>
          </a:p>
        </p:txBody>
      </p:sp>
      <p:sp>
        <p:nvSpPr>
          <p:cNvPr id="26" name="Shape 22"/>
          <p:cNvSpPr/>
          <p:nvPr/>
        </p:nvSpPr>
        <p:spPr>
          <a:xfrm>
            <a:off x="5172048" y="3230514"/>
            <a:ext cx="786083" cy="2511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75957" y="3286799"/>
            <a:ext cx="65446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actif</a:t>
            </a:r>
            <a:endParaRPr lang="en-US" sz="863" dirty="0"/>
          </a:p>
        </p:txBody>
      </p:sp>
      <p:sp>
        <p:nvSpPr>
          <p:cNvPr id="28" name="Shape 24"/>
          <p:cNvSpPr/>
          <p:nvPr/>
        </p:nvSpPr>
        <p:spPr>
          <a:xfrm>
            <a:off x="5172048" y="3653051"/>
            <a:ext cx="3371904" cy="3313929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333053" y="3814056"/>
            <a:ext cx="193301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63" dirty="0"/>
          </a:p>
        </p:txBody>
      </p:sp>
      <p:sp>
        <p:nvSpPr>
          <p:cNvPr id="30" name="Text 26"/>
          <p:cNvSpPr/>
          <p:nvPr/>
        </p:nvSpPr>
        <p:spPr>
          <a:xfrm>
            <a:off x="7654230" y="3820553"/>
            <a:ext cx="404975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6.2km</a:t>
            </a:r>
            <a:endParaRPr lang="en-US" sz="863" dirty="0"/>
          </a:p>
        </p:txBody>
      </p:sp>
      <p:sp>
        <p:nvSpPr>
          <p:cNvPr id="31" name="Shape 27"/>
          <p:cNvSpPr/>
          <p:nvPr/>
        </p:nvSpPr>
        <p:spPr>
          <a:xfrm>
            <a:off x="8040101" y="3864253"/>
            <a:ext cx="342846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8040101" y="3864253"/>
            <a:ext cx="201121" cy="38086"/>
          </a:xfrm>
          <a:prstGeom prst="roundRect">
            <a:avLst>
              <a:gd name="adj" fmla="val 50001"/>
            </a:avLst>
          </a:prstGeom>
          <a:solidFill>
            <a:srgbClr val="C2542D"/>
          </a:solidFill>
          <a:ln/>
        </p:spPr>
      </p:sp>
      <p:sp>
        <p:nvSpPr>
          <p:cNvPr id="33" name="Text 29"/>
          <p:cNvSpPr/>
          <p:nvPr/>
        </p:nvSpPr>
        <p:spPr>
          <a:xfrm>
            <a:off x="5333053" y="4066863"/>
            <a:ext cx="3141391" cy="268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1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Toitures Mercier</a:t>
            </a:r>
            <a:endParaRPr lang="en-US" sz="1650" dirty="0"/>
          </a:p>
        </p:txBody>
      </p:sp>
      <p:sp>
        <p:nvSpPr>
          <p:cNvPr id="34" name="Text 30"/>
          <p:cNvSpPr/>
          <p:nvPr/>
        </p:nvSpPr>
        <p:spPr>
          <a:xfrm>
            <a:off x="5333053" y="4325889"/>
            <a:ext cx="3141391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Mercier Toitures &amp; Étanchéité SAS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333053" y="4574367"/>
            <a:ext cx="3049894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5333053" y="4678273"/>
            <a:ext cx="153444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37" name="Text 33"/>
          <p:cNvSpPr/>
          <p:nvPr/>
        </p:nvSpPr>
        <p:spPr>
          <a:xfrm>
            <a:off x="5333053" y="4854908"/>
            <a:ext cx="1534445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 Mercier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924634" y="4678273"/>
            <a:ext cx="153451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39" name="Text 35"/>
          <p:cNvSpPr/>
          <p:nvPr/>
        </p:nvSpPr>
        <p:spPr>
          <a:xfrm>
            <a:off x="6924634" y="4854908"/>
            <a:ext cx="1534513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à 9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5333053" y="5130105"/>
            <a:ext cx="153444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</a:t>
            </a:r>
            <a:endParaRPr lang="en-US" sz="863" dirty="0"/>
          </a:p>
        </p:txBody>
      </p:sp>
      <p:sp>
        <p:nvSpPr>
          <p:cNvPr id="41" name="Text 37"/>
          <p:cNvSpPr/>
          <p:nvPr/>
        </p:nvSpPr>
        <p:spPr>
          <a:xfrm>
            <a:off x="5333053" y="5306737"/>
            <a:ext cx="1534445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Vénissieux · 69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924634" y="5130105"/>
            <a:ext cx="153451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43" name="Text 39"/>
          <p:cNvSpPr/>
          <p:nvPr/>
        </p:nvSpPr>
        <p:spPr>
          <a:xfrm>
            <a:off x="6924634" y="5306737"/>
            <a:ext cx="1534513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04 72 50 11 88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5333053" y="5619950"/>
            <a:ext cx="3049894" cy="728920"/>
          </a:xfrm>
          <a:prstGeom prst="roundRect">
            <a:avLst>
              <a:gd name="adj" fmla="val 7840"/>
            </a:avLst>
          </a:prstGeom>
          <a:solidFill>
            <a:srgbClr val="F1EDE4"/>
          </a:solidFill>
          <a:ln/>
        </p:spPr>
      </p:sp>
      <p:sp>
        <p:nvSpPr>
          <p:cNvPr id="45" name="Text 41"/>
          <p:cNvSpPr/>
          <p:nvPr/>
        </p:nvSpPr>
        <p:spPr>
          <a:xfrm>
            <a:off x="5447353" y="5715200"/>
            <a:ext cx="2912791" cy="576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highlight>
                  <a:srgbClr val="F1EDE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Je travaille avec plusieurs ateliers étanchéité du Rhône — votre taille, votre métier. Auriez-vous 15 minutes la semaine prochaine ?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975" dirty="0"/>
          </a:p>
        </p:txBody>
      </p:sp>
      <p:sp>
        <p:nvSpPr>
          <p:cNvPr id="46" name="Shape 42"/>
          <p:cNvSpPr/>
          <p:nvPr/>
        </p:nvSpPr>
        <p:spPr>
          <a:xfrm>
            <a:off x="5333053" y="6482139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577" y="6591663"/>
            <a:ext cx="123798" cy="123798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5732995" y="6482139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518" y="6591663"/>
            <a:ext cx="123798" cy="123798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6132936" y="6482139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460" y="6591663"/>
            <a:ext cx="123798" cy="123798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6532878" y="6482139"/>
            <a:ext cx="1850069" cy="342846"/>
          </a:xfrm>
          <a:prstGeom prst="roundRect">
            <a:avLst>
              <a:gd name="adj" fmla="val 22226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6949854" y="6577794"/>
            <a:ext cx="84469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fiche</a:t>
            </a:r>
            <a:endParaRPr lang="en-US" sz="90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3544" y="6596397"/>
            <a:ext cx="114259" cy="114259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5172048" y="7081242"/>
            <a:ext cx="3371904" cy="3313929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333053" y="7242246"/>
            <a:ext cx="219007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63" dirty="0"/>
          </a:p>
        </p:txBody>
      </p:sp>
      <p:sp>
        <p:nvSpPr>
          <p:cNvPr id="57" name="Text 49"/>
          <p:cNvSpPr/>
          <p:nvPr/>
        </p:nvSpPr>
        <p:spPr>
          <a:xfrm>
            <a:off x="7654230" y="7248739"/>
            <a:ext cx="404975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1.4km</a:t>
            </a:r>
            <a:endParaRPr lang="en-US" sz="863" dirty="0"/>
          </a:p>
        </p:txBody>
      </p:sp>
      <p:sp>
        <p:nvSpPr>
          <p:cNvPr id="58" name="Shape 50"/>
          <p:cNvSpPr/>
          <p:nvPr/>
        </p:nvSpPr>
        <p:spPr>
          <a:xfrm>
            <a:off x="8040101" y="7292439"/>
            <a:ext cx="342846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59" name="Shape 51"/>
          <p:cNvSpPr/>
          <p:nvPr/>
        </p:nvSpPr>
        <p:spPr>
          <a:xfrm>
            <a:off x="8040101" y="7292439"/>
            <a:ext cx="310780" cy="38086"/>
          </a:xfrm>
          <a:prstGeom prst="roundRect">
            <a:avLst>
              <a:gd name="adj" fmla="val 50001"/>
            </a:avLst>
          </a:prstGeom>
          <a:solidFill>
            <a:srgbClr val="C2542D"/>
          </a:solidFill>
          <a:ln/>
        </p:spPr>
      </p:sp>
      <p:sp>
        <p:nvSpPr>
          <p:cNvPr id="60" name="Text 52"/>
          <p:cNvSpPr/>
          <p:nvPr/>
        </p:nvSpPr>
        <p:spPr>
          <a:xfrm>
            <a:off x="5333053" y="7495049"/>
            <a:ext cx="3141391" cy="268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1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Étan-Pro 69</a:t>
            </a:r>
            <a:endParaRPr lang="en-US" sz="1650" dirty="0"/>
          </a:p>
        </p:txBody>
      </p:sp>
      <p:sp>
        <p:nvSpPr>
          <p:cNvPr id="61" name="Text 53"/>
          <p:cNvSpPr/>
          <p:nvPr/>
        </p:nvSpPr>
        <p:spPr>
          <a:xfrm>
            <a:off x="5333053" y="7754080"/>
            <a:ext cx="3141391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Étan-Pro Soixante-Neuf SARL</a:t>
            </a:r>
            <a:endParaRPr lang="en-US" sz="900" dirty="0"/>
          </a:p>
        </p:txBody>
      </p:sp>
      <p:sp>
        <p:nvSpPr>
          <p:cNvPr id="62" name="Shape 54"/>
          <p:cNvSpPr/>
          <p:nvPr/>
        </p:nvSpPr>
        <p:spPr>
          <a:xfrm>
            <a:off x="5333053" y="8002553"/>
            <a:ext cx="3049894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63" name="Text 55"/>
          <p:cNvSpPr/>
          <p:nvPr/>
        </p:nvSpPr>
        <p:spPr>
          <a:xfrm>
            <a:off x="5333053" y="8106463"/>
            <a:ext cx="153444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64" name="Text 56"/>
          <p:cNvSpPr/>
          <p:nvPr/>
        </p:nvSpPr>
        <p:spPr>
          <a:xfrm>
            <a:off x="5333053" y="8283094"/>
            <a:ext cx="1534445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Laurent Béchu</a:t>
            </a:r>
            <a:endParaRPr lang="en-US" sz="1050" dirty="0"/>
          </a:p>
        </p:txBody>
      </p:sp>
      <p:sp>
        <p:nvSpPr>
          <p:cNvPr id="65" name="Text 57"/>
          <p:cNvSpPr/>
          <p:nvPr/>
        </p:nvSpPr>
        <p:spPr>
          <a:xfrm>
            <a:off x="6924634" y="8106463"/>
            <a:ext cx="153451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66" name="Text 58"/>
          <p:cNvSpPr/>
          <p:nvPr/>
        </p:nvSpPr>
        <p:spPr>
          <a:xfrm>
            <a:off x="6924634" y="8283094"/>
            <a:ext cx="1534513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à 9</a:t>
            </a:r>
            <a:endParaRPr lang="en-US" sz="1050" dirty="0"/>
          </a:p>
        </p:txBody>
      </p:sp>
      <p:sp>
        <p:nvSpPr>
          <p:cNvPr id="67" name="Text 59"/>
          <p:cNvSpPr/>
          <p:nvPr/>
        </p:nvSpPr>
        <p:spPr>
          <a:xfrm>
            <a:off x="5333053" y="8558292"/>
            <a:ext cx="153444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</a:t>
            </a:r>
            <a:endParaRPr lang="en-US" sz="863" dirty="0"/>
          </a:p>
        </p:txBody>
      </p:sp>
      <p:sp>
        <p:nvSpPr>
          <p:cNvPr id="68" name="Text 60"/>
          <p:cNvSpPr/>
          <p:nvPr/>
        </p:nvSpPr>
        <p:spPr>
          <a:xfrm>
            <a:off x="5333053" y="8734923"/>
            <a:ext cx="1534445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Villeurbanne · 69</a:t>
            </a:r>
            <a:endParaRPr lang="en-US" sz="1050" dirty="0"/>
          </a:p>
        </p:txBody>
      </p:sp>
      <p:sp>
        <p:nvSpPr>
          <p:cNvPr id="69" name="Text 61"/>
          <p:cNvSpPr/>
          <p:nvPr/>
        </p:nvSpPr>
        <p:spPr>
          <a:xfrm>
            <a:off x="6924634" y="8558292"/>
            <a:ext cx="153451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70" name="Text 62"/>
          <p:cNvSpPr/>
          <p:nvPr/>
        </p:nvSpPr>
        <p:spPr>
          <a:xfrm>
            <a:off x="6924634" y="8734923"/>
            <a:ext cx="1534513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04 78 03 56 41</a:t>
            </a:r>
            <a:endParaRPr lang="en-US" sz="1050" dirty="0"/>
          </a:p>
        </p:txBody>
      </p:sp>
      <p:sp>
        <p:nvSpPr>
          <p:cNvPr id="71" name="Shape 63"/>
          <p:cNvSpPr/>
          <p:nvPr/>
        </p:nvSpPr>
        <p:spPr>
          <a:xfrm>
            <a:off x="5333053" y="9048141"/>
            <a:ext cx="3049894" cy="728920"/>
          </a:xfrm>
          <a:prstGeom prst="roundRect">
            <a:avLst>
              <a:gd name="adj" fmla="val 7840"/>
            </a:avLst>
          </a:prstGeom>
          <a:solidFill>
            <a:srgbClr val="F1EDE4"/>
          </a:solidFill>
          <a:ln/>
        </p:spPr>
      </p:sp>
      <p:sp>
        <p:nvSpPr>
          <p:cNvPr id="72" name="Text 64"/>
          <p:cNvSpPr/>
          <p:nvPr/>
        </p:nvSpPr>
        <p:spPr>
          <a:xfrm>
            <a:off x="5447353" y="9143391"/>
            <a:ext cx="2912791" cy="576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highlight>
                  <a:srgbClr val="F1EDE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Voisin direct d'un confrère que vous connaissez probablement. 15 minutes pour échanger sur votre fonctionnement équipe ?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975" dirty="0"/>
          </a:p>
        </p:txBody>
      </p:sp>
      <p:sp>
        <p:nvSpPr>
          <p:cNvPr id="73" name="Shape 65"/>
          <p:cNvSpPr/>
          <p:nvPr/>
        </p:nvSpPr>
        <p:spPr>
          <a:xfrm>
            <a:off x="5333053" y="9910325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7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2577" y="10019849"/>
            <a:ext cx="123798" cy="123798"/>
          </a:xfrm>
          <a:prstGeom prst="rect">
            <a:avLst/>
          </a:prstGeom>
        </p:spPr>
      </p:pic>
      <p:sp>
        <p:nvSpPr>
          <p:cNvPr id="75" name="Shape 66"/>
          <p:cNvSpPr/>
          <p:nvPr/>
        </p:nvSpPr>
        <p:spPr>
          <a:xfrm>
            <a:off x="5732995" y="9910325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7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518" y="10019849"/>
            <a:ext cx="123798" cy="123798"/>
          </a:xfrm>
          <a:prstGeom prst="rect">
            <a:avLst/>
          </a:prstGeom>
        </p:spPr>
      </p:pic>
      <p:sp>
        <p:nvSpPr>
          <p:cNvPr id="77" name="Shape 67"/>
          <p:cNvSpPr/>
          <p:nvPr/>
        </p:nvSpPr>
        <p:spPr>
          <a:xfrm>
            <a:off x="6132936" y="9910325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7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2460" y="10019849"/>
            <a:ext cx="123798" cy="123798"/>
          </a:xfrm>
          <a:prstGeom prst="rect">
            <a:avLst/>
          </a:prstGeom>
        </p:spPr>
      </p:pic>
      <p:sp>
        <p:nvSpPr>
          <p:cNvPr id="79" name="Shape 68"/>
          <p:cNvSpPr/>
          <p:nvPr/>
        </p:nvSpPr>
        <p:spPr>
          <a:xfrm>
            <a:off x="6532878" y="9910325"/>
            <a:ext cx="1850069" cy="342846"/>
          </a:xfrm>
          <a:prstGeom prst="roundRect">
            <a:avLst>
              <a:gd name="adj" fmla="val 22226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80" name="Text 69"/>
          <p:cNvSpPr/>
          <p:nvPr/>
        </p:nvSpPr>
        <p:spPr>
          <a:xfrm>
            <a:off x="6949854" y="10005985"/>
            <a:ext cx="84469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fiche</a:t>
            </a:r>
            <a:endParaRPr lang="en-US" sz="900" dirty="0"/>
          </a:p>
        </p:txBody>
      </p:sp>
      <p:pic>
        <p:nvPicPr>
          <p:cNvPr id="8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3544" y="10024588"/>
            <a:ext cx="114259" cy="114259"/>
          </a:xfrm>
          <a:prstGeom prst="rect">
            <a:avLst/>
          </a:prstGeom>
        </p:spPr>
      </p:pic>
      <p:sp>
        <p:nvSpPr>
          <p:cNvPr id="82" name="Shape 70"/>
          <p:cNvSpPr/>
          <p:nvPr/>
        </p:nvSpPr>
        <p:spPr>
          <a:xfrm>
            <a:off x="5172048" y="10509428"/>
            <a:ext cx="3371904" cy="3134455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83" name="Text 71"/>
          <p:cNvSpPr/>
          <p:nvPr/>
        </p:nvSpPr>
        <p:spPr>
          <a:xfrm>
            <a:off x="5333053" y="10670432"/>
            <a:ext cx="218466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63" dirty="0"/>
          </a:p>
        </p:txBody>
      </p:sp>
      <p:sp>
        <p:nvSpPr>
          <p:cNvPr id="84" name="Text 72"/>
          <p:cNvSpPr/>
          <p:nvPr/>
        </p:nvSpPr>
        <p:spPr>
          <a:xfrm>
            <a:off x="7654230" y="10676925"/>
            <a:ext cx="404975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8.9km</a:t>
            </a:r>
            <a:endParaRPr lang="en-US" sz="863" dirty="0"/>
          </a:p>
        </p:txBody>
      </p:sp>
      <p:sp>
        <p:nvSpPr>
          <p:cNvPr id="85" name="Shape 73"/>
          <p:cNvSpPr/>
          <p:nvPr/>
        </p:nvSpPr>
        <p:spPr>
          <a:xfrm>
            <a:off x="8040101" y="10720629"/>
            <a:ext cx="342846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86" name="Shape 74"/>
          <p:cNvSpPr/>
          <p:nvPr/>
        </p:nvSpPr>
        <p:spPr>
          <a:xfrm>
            <a:off x="8040101" y="10720629"/>
            <a:ext cx="139357" cy="38086"/>
          </a:xfrm>
          <a:prstGeom prst="roundRect">
            <a:avLst>
              <a:gd name="adj" fmla="val 50001"/>
            </a:avLst>
          </a:prstGeom>
          <a:solidFill>
            <a:srgbClr val="C2542D"/>
          </a:solidFill>
          <a:ln/>
        </p:spPr>
      </p:sp>
      <p:sp>
        <p:nvSpPr>
          <p:cNvPr id="87" name="Text 75"/>
          <p:cNvSpPr/>
          <p:nvPr/>
        </p:nvSpPr>
        <p:spPr>
          <a:xfrm>
            <a:off x="5333053" y="10923236"/>
            <a:ext cx="3141391" cy="268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1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Zénith Étanchéité</a:t>
            </a:r>
            <a:endParaRPr lang="en-US" sz="1650" dirty="0"/>
          </a:p>
        </p:txBody>
      </p:sp>
      <p:sp>
        <p:nvSpPr>
          <p:cNvPr id="88" name="Text 76"/>
          <p:cNvSpPr/>
          <p:nvPr/>
        </p:nvSpPr>
        <p:spPr>
          <a:xfrm>
            <a:off x="5333053" y="11182266"/>
            <a:ext cx="3141391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Zénith Étanchéité SARL</a:t>
            </a:r>
            <a:endParaRPr lang="en-US" sz="900" dirty="0"/>
          </a:p>
        </p:txBody>
      </p:sp>
      <p:sp>
        <p:nvSpPr>
          <p:cNvPr id="89" name="Shape 77"/>
          <p:cNvSpPr/>
          <p:nvPr/>
        </p:nvSpPr>
        <p:spPr>
          <a:xfrm>
            <a:off x="5333053" y="11430739"/>
            <a:ext cx="3049894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90" name="Text 78"/>
          <p:cNvSpPr/>
          <p:nvPr/>
        </p:nvSpPr>
        <p:spPr>
          <a:xfrm>
            <a:off x="5333053" y="11534649"/>
            <a:ext cx="153444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91" name="Text 79"/>
          <p:cNvSpPr/>
          <p:nvPr/>
        </p:nvSpPr>
        <p:spPr>
          <a:xfrm>
            <a:off x="5333053" y="11711281"/>
            <a:ext cx="1534445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Sandrine Daudet</a:t>
            </a:r>
            <a:endParaRPr lang="en-US" sz="1050" dirty="0"/>
          </a:p>
        </p:txBody>
      </p:sp>
      <p:sp>
        <p:nvSpPr>
          <p:cNvPr id="92" name="Text 80"/>
          <p:cNvSpPr/>
          <p:nvPr/>
        </p:nvSpPr>
        <p:spPr>
          <a:xfrm>
            <a:off x="6924634" y="11534649"/>
            <a:ext cx="153451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93" name="Text 81"/>
          <p:cNvSpPr/>
          <p:nvPr/>
        </p:nvSpPr>
        <p:spPr>
          <a:xfrm>
            <a:off x="6924634" y="11711281"/>
            <a:ext cx="1534513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à 5</a:t>
            </a:r>
            <a:endParaRPr lang="en-US" sz="1050" dirty="0"/>
          </a:p>
        </p:txBody>
      </p:sp>
      <p:sp>
        <p:nvSpPr>
          <p:cNvPr id="94" name="Text 82"/>
          <p:cNvSpPr/>
          <p:nvPr/>
        </p:nvSpPr>
        <p:spPr>
          <a:xfrm>
            <a:off x="5333053" y="11986478"/>
            <a:ext cx="153444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</a:t>
            </a:r>
            <a:endParaRPr lang="en-US" sz="863" dirty="0"/>
          </a:p>
        </p:txBody>
      </p:sp>
      <p:sp>
        <p:nvSpPr>
          <p:cNvPr id="95" name="Text 83"/>
          <p:cNvSpPr/>
          <p:nvPr/>
        </p:nvSpPr>
        <p:spPr>
          <a:xfrm>
            <a:off x="5333053" y="12163113"/>
            <a:ext cx="1534445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· 69</a:t>
            </a:r>
            <a:endParaRPr lang="en-US" sz="1050" dirty="0"/>
          </a:p>
        </p:txBody>
      </p:sp>
      <p:sp>
        <p:nvSpPr>
          <p:cNvPr id="96" name="Text 84"/>
          <p:cNvSpPr/>
          <p:nvPr/>
        </p:nvSpPr>
        <p:spPr>
          <a:xfrm>
            <a:off x="6924634" y="11986478"/>
            <a:ext cx="153451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97" name="Text 85"/>
          <p:cNvSpPr/>
          <p:nvPr/>
        </p:nvSpPr>
        <p:spPr>
          <a:xfrm>
            <a:off x="6924634" y="12163113"/>
            <a:ext cx="1534513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04 78 26 90 12</a:t>
            </a:r>
            <a:endParaRPr lang="en-US" sz="1050" dirty="0"/>
          </a:p>
        </p:txBody>
      </p:sp>
      <p:sp>
        <p:nvSpPr>
          <p:cNvPr id="98" name="Shape 86"/>
          <p:cNvSpPr/>
          <p:nvPr/>
        </p:nvSpPr>
        <p:spPr>
          <a:xfrm>
            <a:off x="5333053" y="12476327"/>
            <a:ext cx="3049894" cy="549446"/>
          </a:xfrm>
          <a:prstGeom prst="roundRect">
            <a:avLst>
              <a:gd name="adj" fmla="val 10401"/>
            </a:avLst>
          </a:prstGeom>
          <a:solidFill>
            <a:srgbClr val="F1EDE4"/>
          </a:solidFill>
          <a:ln/>
        </p:spPr>
      </p:sp>
      <p:sp>
        <p:nvSpPr>
          <p:cNvPr id="99" name="Text 87"/>
          <p:cNvSpPr/>
          <p:nvPr/>
        </p:nvSpPr>
        <p:spPr>
          <a:xfrm>
            <a:off x="5447353" y="12571577"/>
            <a:ext cx="2912791" cy="397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highlight>
                  <a:srgbClr val="F1EDE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Plus petite structure du périmètre — approche planning + facturation chantier. Court échange ?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975" dirty="0"/>
          </a:p>
        </p:txBody>
      </p:sp>
      <p:sp>
        <p:nvSpPr>
          <p:cNvPr id="100" name="Shape 88"/>
          <p:cNvSpPr/>
          <p:nvPr/>
        </p:nvSpPr>
        <p:spPr>
          <a:xfrm>
            <a:off x="5333053" y="13159043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0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2577" y="13268567"/>
            <a:ext cx="123798" cy="123798"/>
          </a:xfrm>
          <a:prstGeom prst="rect">
            <a:avLst/>
          </a:prstGeom>
        </p:spPr>
      </p:pic>
      <p:sp>
        <p:nvSpPr>
          <p:cNvPr id="102" name="Shape 89"/>
          <p:cNvSpPr/>
          <p:nvPr/>
        </p:nvSpPr>
        <p:spPr>
          <a:xfrm>
            <a:off x="5732995" y="13159043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0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2518" y="13268567"/>
            <a:ext cx="123798" cy="123798"/>
          </a:xfrm>
          <a:prstGeom prst="rect">
            <a:avLst/>
          </a:prstGeom>
        </p:spPr>
      </p:pic>
      <p:sp>
        <p:nvSpPr>
          <p:cNvPr id="104" name="Shape 90"/>
          <p:cNvSpPr/>
          <p:nvPr/>
        </p:nvSpPr>
        <p:spPr>
          <a:xfrm>
            <a:off x="6132936" y="13159043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0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2460" y="13268567"/>
            <a:ext cx="123798" cy="123798"/>
          </a:xfrm>
          <a:prstGeom prst="rect">
            <a:avLst/>
          </a:prstGeom>
        </p:spPr>
      </p:pic>
      <p:sp>
        <p:nvSpPr>
          <p:cNvPr id="106" name="Shape 91"/>
          <p:cNvSpPr/>
          <p:nvPr/>
        </p:nvSpPr>
        <p:spPr>
          <a:xfrm>
            <a:off x="6532878" y="13159043"/>
            <a:ext cx="1850069" cy="342846"/>
          </a:xfrm>
          <a:prstGeom prst="roundRect">
            <a:avLst>
              <a:gd name="adj" fmla="val 22226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107" name="Text 92"/>
          <p:cNvSpPr/>
          <p:nvPr/>
        </p:nvSpPr>
        <p:spPr>
          <a:xfrm>
            <a:off x="6949854" y="13254698"/>
            <a:ext cx="84469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fiche</a:t>
            </a:r>
            <a:endParaRPr lang="en-US" sz="900" dirty="0"/>
          </a:p>
        </p:txBody>
      </p:sp>
      <p:pic>
        <p:nvPicPr>
          <p:cNvPr id="10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3544" y="13273301"/>
            <a:ext cx="114259" cy="114259"/>
          </a:xfrm>
          <a:prstGeom prst="rect">
            <a:avLst/>
          </a:prstGeom>
        </p:spPr>
      </p:pic>
      <p:sp>
        <p:nvSpPr>
          <p:cNvPr id="109" name="Shape 93"/>
          <p:cNvSpPr/>
          <p:nvPr/>
        </p:nvSpPr>
        <p:spPr>
          <a:xfrm>
            <a:off x="5172048" y="13758142"/>
            <a:ext cx="3371904" cy="3313929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sp>
        <p:nvSpPr>
          <p:cNvPr id="110" name="Text 94"/>
          <p:cNvSpPr/>
          <p:nvPr/>
        </p:nvSpPr>
        <p:spPr>
          <a:xfrm>
            <a:off x="5333053" y="13919146"/>
            <a:ext cx="21806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B1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63" dirty="0"/>
          </a:p>
        </p:txBody>
      </p:sp>
      <p:sp>
        <p:nvSpPr>
          <p:cNvPr id="111" name="Text 95"/>
          <p:cNvSpPr/>
          <p:nvPr/>
        </p:nvSpPr>
        <p:spPr>
          <a:xfrm>
            <a:off x="7601396" y="13925643"/>
            <a:ext cx="457809" cy="163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11.7km</a:t>
            </a:r>
            <a:endParaRPr lang="en-US" sz="863" dirty="0"/>
          </a:p>
        </p:txBody>
      </p:sp>
      <p:sp>
        <p:nvSpPr>
          <p:cNvPr id="112" name="Shape 96"/>
          <p:cNvSpPr/>
          <p:nvPr/>
        </p:nvSpPr>
        <p:spPr>
          <a:xfrm>
            <a:off x="8040101" y="13969343"/>
            <a:ext cx="342846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5000"/>
            </a:srgbClr>
          </a:solidFill>
          <a:ln/>
        </p:spPr>
      </p:sp>
      <p:sp>
        <p:nvSpPr>
          <p:cNvPr id="113" name="Shape 97"/>
          <p:cNvSpPr/>
          <p:nvPr/>
        </p:nvSpPr>
        <p:spPr>
          <a:xfrm>
            <a:off x="8040101" y="13969343"/>
            <a:ext cx="75361" cy="38086"/>
          </a:xfrm>
          <a:prstGeom prst="roundRect">
            <a:avLst>
              <a:gd name="adj" fmla="val 50001"/>
            </a:avLst>
          </a:prstGeom>
          <a:solidFill>
            <a:srgbClr val="C2542D"/>
          </a:solidFill>
          <a:ln/>
        </p:spPr>
      </p:sp>
      <p:sp>
        <p:nvSpPr>
          <p:cNvPr id="114" name="Text 98"/>
          <p:cNvSpPr/>
          <p:nvPr/>
        </p:nvSpPr>
        <p:spPr>
          <a:xfrm>
            <a:off x="5333053" y="14171954"/>
            <a:ext cx="3141391" cy="268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16" kern="0" dirty="0">
                <a:solidFill>
                  <a:srgbClr val="141C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Couverture Rhône+</a:t>
            </a:r>
            <a:endParaRPr lang="en-US" sz="1650" dirty="0"/>
          </a:p>
        </p:txBody>
      </p:sp>
      <p:sp>
        <p:nvSpPr>
          <p:cNvPr id="115" name="Text 99"/>
          <p:cNvSpPr/>
          <p:nvPr/>
        </p:nvSpPr>
        <p:spPr>
          <a:xfrm>
            <a:off x="5333053" y="14430980"/>
            <a:ext cx="3141391" cy="17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Rhône Plus SAS</a:t>
            </a:r>
            <a:endParaRPr lang="en-US" sz="900" dirty="0"/>
          </a:p>
        </p:txBody>
      </p:sp>
      <p:sp>
        <p:nvSpPr>
          <p:cNvPr id="116" name="Shape 100"/>
          <p:cNvSpPr/>
          <p:nvPr/>
        </p:nvSpPr>
        <p:spPr>
          <a:xfrm>
            <a:off x="5333053" y="14679457"/>
            <a:ext cx="3049894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17" name="Text 101"/>
          <p:cNvSpPr/>
          <p:nvPr/>
        </p:nvSpPr>
        <p:spPr>
          <a:xfrm>
            <a:off x="5333053" y="14783367"/>
            <a:ext cx="153444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</a:t>
            </a:r>
            <a:endParaRPr lang="en-US" sz="863" dirty="0"/>
          </a:p>
        </p:txBody>
      </p:sp>
      <p:sp>
        <p:nvSpPr>
          <p:cNvPr id="118" name="Text 102"/>
          <p:cNvSpPr/>
          <p:nvPr/>
        </p:nvSpPr>
        <p:spPr>
          <a:xfrm>
            <a:off x="5333053" y="14959998"/>
            <a:ext cx="1534445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Belkacem</a:t>
            </a:r>
            <a:endParaRPr lang="en-US" sz="1050" dirty="0"/>
          </a:p>
        </p:txBody>
      </p:sp>
      <p:sp>
        <p:nvSpPr>
          <p:cNvPr id="119" name="Text 103"/>
          <p:cNvSpPr/>
          <p:nvPr/>
        </p:nvSpPr>
        <p:spPr>
          <a:xfrm>
            <a:off x="6924634" y="14783367"/>
            <a:ext cx="153451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</a:t>
            </a:r>
            <a:endParaRPr lang="en-US" sz="863" dirty="0"/>
          </a:p>
        </p:txBody>
      </p:sp>
      <p:sp>
        <p:nvSpPr>
          <p:cNvPr id="120" name="Text 104"/>
          <p:cNvSpPr/>
          <p:nvPr/>
        </p:nvSpPr>
        <p:spPr>
          <a:xfrm>
            <a:off x="6924634" y="14959998"/>
            <a:ext cx="1534513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à 19</a:t>
            </a:r>
            <a:endParaRPr lang="en-US" sz="1050" dirty="0"/>
          </a:p>
        </p:txBody>
      </p:sp>
      <p:sp>
        <p:nvSpPr>
          <p:cNvPr id="121" name="Text 105"/>
          <p:cNvSpPr/>
          <p:nvPr/>
        </p:nvSpPr>
        <p:spPr>
          <a:xfrm>
            <a:off x="5333053" y="15235196"/>
            <a:ext cx="153444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</a:t>
            </a:r>
            <a:endParaRPr lang="en-US" sz="863" dirty="0"/>
          </a:p>
        </p:txBody>
      </p:sp>
      <p:sp>
        <p:nvSpPr>
          <p:cNvPr id="122" name="Text 106"/>
          <p:cNvSpPr/>
          <p:nvPr/>
        </p:nvSpPr>
        <p:spPr>
          <a:xfrm>
            <a:off x="5333053" y="15411827"/>
            <a:ext cx="1534445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Rillieux-la-Pape · 69</a:t>
            </a:r>
            <a:endParaRPr lang="en-US" sz="1050" dirty="0"/>
          </a:p>
        </p:txBody>
      </p:sp>
      <p:sp>
        <p:nvSpPr>
          <p:cNvPr id="123" name="Text 107"/>
          <p:cNvSpPr/>
          <p:nvPr/>
        </p:nvSpPr>
        <p:spPr>
          <a:xfrm>
            <a:off x="6924634" y="15235196"/>
            <a:ext cx="153451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863" dirty="0"/>
          </a:p>
        </p:txBody>
      </p:sp>
      <p:sp>
        <p:nvSpPr>
          <p:cNvPr id="124" name="Text 108"/>
          <p:cNvSpPr/>
          <p:nvPr/>
        </p:nvSpPr>
        <p:spPr>
          <a:xfrm>
            <a:off x="6924634" y="15411827"/>
            <a:ext cx="1534513" cy="2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C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04 78 88 14 70</a:t>
            </a:r>
            <a:endParaRPr lang="en-US" sz="1050" dirty="0"/>
          </a:p>
        </p:txBody>
      </p:sp>
      <p:sp>
        <p:nvSpPr>
          <p:cNvPr id="125" name="Shape 109"/>
          <p:cNvSpPr/>
          <p:nvPr/>
        </p:nvSpPr>
        <p:spPr>
          <a:xfrm>
            <a:off x="5333053" y="15725040"/>
            <a:ext cx="3049894" cy="728920"/>
          </a:xfrm>
          <a:prstGeom prst="roundRect">
            <a:avLst>
              <a:gd name="adj" fmla="val 7840"/>
            </a:avLst>
          </a:prstGeom>
          <a:solidFill>
            <a:srgbClr val="F1EDE4"/>
          </a:solidFill>
          <a:ln/>
        </p:spPr>
      </p:sp>
      <p:sp>
        <p:nvSpPr>
          <p:cNvPr id="126" name="Text 110"/>
          <p:cNvSpPr/>
          <p:nvPr/>
        </p:nvSpPr>
        <p:spPr>
          <a:xfrm>
            <a:off x="5447353" y="15820290"/>
            <a:ext cx="2912791" cy="576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highlight>
                  <a:srgbClr val="F1EDE4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Structure un peu plus grosse que les autres du périmètre — approche multi-équipes / coordination de chantiers parallèles. </a:t>
            </a:r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4A5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975" dirty="0"/>
          </a:p>
        </p:txBody>
      </p:sp>
      <p:sp>
        <p:nvSpPr>
          <p:cNvPr id="127" name="Shape 111"/>
          <p:cNvSpPr/>
          <p:nvPr/>
        </p:nvSpPr>
        <p:spPr>
          <a:xfrm>
            <a:off x="5333053" y="16587229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42577" y="16696753"/>
            <a:ext cx="123798" cy="123798"/>
          </a:xfrm>
          <a:prstGeom prst="rect">
            <a:avLst/>
          </a:prstGeom>
        </p:spPr>
      </p:pic>
      <p:sp>
        <p:nvSpPr>
          <p:cNvPr id="129" name="Shape 112"/>
          <p:cNvSpPr/>
          <p:nvPr/>
        </p:nvSpPr>
        <p:spPr>
          <a:xfrm>
            <a:off x="5732995" y="16587229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3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2518" y="16696753"/>
            <a:ext cx="123798" cy="123798"/>
          </a:xfrm>
          <a:prstGeom prst="rect">
            <a:avLst/>
          </a:prstGeom>
        </p:spPr>
      </p:pic>
      <p:sp>
        <p:nvSpPr>
          <p:cNvPr id="131" name="Shape 113"/>
          <p:cNvSpPr/>
          <p:nvPr/>
        </p:nvSpPr>
        <p:spPr>
          <a:xfrm>
            <a:off x="6132936" y="16587229"/>
            <a:ext cx="342846" cy="342846"/>
          </a:xfrm>
          <a:prstGeom prst="roundRect">
            <a:avLst>
              <a:gd name="adj" fmla="val 22226"/>
            </a:avLst>
          </a:prstGeom>
          <a:solidFill>
            <a:srgbClr val="F1EDE4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3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2460" y="16696753"/>
            <a:ext cx="123798" cy="123798"/>
          </a:xfrm>
          <a:prstGeom prst="rect">
            <a:avLst/>
          </a:prstGeom>
        </p:spPr>
      </p:pic>
      <p:sp>
        <p:nvSpPr>
          <p:cNvPr id="133" name="Shape 114"/>
          <p:cNvSpPr/>
          <p:nvPr/>
        </p:nvSpPr>
        <p:spPr>
          <a:xfrm>
            <a:off x="6532878" y="16587229"/>
            <a:ext cx="1850069" cy="342846"/>
          </a:xfrm>
          <a:prstGeom prst="roundRect">
            <a:avLst>
              <a:gd name="adj" fmla="val 22226"/>
            </a:avLst>
          </a:prstGeom>
          <a:solidFill>
            <a:srgbClr val="141C2D"/>
          </a:solidFill>
          <a:ln w="8659">
            <a:solidFill>
              <a:srgbClr val="141C2D"/>
            </a:solidFill>
            <a:prstDash val="solid"/>
          </a:ln>
        </p:spPr>
      </p:sp>
      <p:sp>
        <p:nvSpPr>
          <p:cNvPr id="134" name="Text 115"/>
          <p:cNvSpPr/>
          <p:nvPr/>
        </p:nvSpPr>
        <p:spPr>
          <a:xfrm>
            <a:off x="6949854" y="16682884"/>
            <a:ext cx="844694" cy="18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fiche</a:t>
            </a:r>
            <a:endParaRPr lang="en-US" sz="900" dirty="0"/>
          </a:p>
        </p:txBody>
      </p:sp>
      <p:pic>
        <p:nvPicPr>
          <p:cNvPr id="13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3544" y="16701488"/>
            <a:ext cx="114259" cy="114259"/>
          </a:xfrm>
          <a:prstGeom prst="rect">
            <a:avLst/>
          </a:prstGeom>
        </p:spPr>
      </p:pic>
      <p:sp>
        <p:nvSpPr>
          <p:cNvPr id="136" name="Shape 116"/>
          <p:cNvSpPr/>
          <p:nvPr/>
        </p:nvSpPr>
        <p:spPr>
          <a:xfrm>
            <a:off x="5000625" y="17243496"/>
            <a:ext cx="3714750" cy="823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Shape 117"/>
          <p:cNvSpPr/>
          <p:nvPr/>
        </p:nvSpPr>
        <p:spPr>
          <a:xfrm>
            <a:off x="5000625" y="17243496"/>
            <a:ext cx="3714750" cy="9525"/>
          </a:xfrm>
          <a:prstGeom prst="rect">
            <a:avLst/>
          </a:prstGeom>
          <a:solidFill>
            <a:srgbClr val="141C2D">
              <a:alpha val="10000"/>
            </a:srgbClr>
          </a:solidFill>
          <a:ln/>
        </p:spPr>
      </p:sp>
      <p:sp>
        <p:nvSpPr>
          <p:cNvPr id="138" name="Shape 118"/>
          <p:cNvSpPr/>
          <p:nvPr/>
        </p:nvSpPr>
        <p:spPr>
          <a:xfrm>
            <a:off x="5172048" y="17442652"/>
            <a:ext cx="3371904" cy="452843"/>
          </a:xfrm>
          <a:prstGeom prst="roundRect">
            <a:avLst>
              <a:gd name="adj" fmla="val 21034"/>
            </a:avLst>
          </a:prstGeom>
          <a:solidFill>
            <a:srgbClr val="FFFFFF"/>
          </a:solidFill>
          <a:ln w="8659">
            <a:solidFill>
              <a:srgbClr val="141C2D">
                <a:alpha val="10000"/>
              </a:srgbClr>
            </a:solidFill>
            <a:prstDash val="solid"/>
          </a:ln>
        </p:spPr>
      </p:sp>
      <p:pic>
        <p:nvPicPr>
          <p:cNvPr id="1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4770" y="17602372"/>
            <a:ext cx="133336" cy="133336"/>
          </a:xfrm>
          <a:prstGeom prst="rect">
            <a:avLst/>
          </a:prstGeom>
        </p:spPr>
      </p:pic>
      <p:sp>
        <p:nvSpPr>
          <p:cNvPr id="140" name="Text 119"/>
          <p:cNvSpPr/>
          <p:nvPr/>
        </p:nvSpPr>
        <p:spPr>
          <a:xfrm>
            <a:off x="6256179" y="17584648"/>
            <a:ext cx="1413150" cy="20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14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les 4 en CSV</a:t>
            </a:r>
            <a:endParaRPr lang="en-US" sz="1013" dirty="0"/>
          </a:p>
        </p:txBody>
      </p:sp>
      <p:sp>
        <p:nvSpPr>
          <p:cNvPr id="141" name="Shape 120"/>
          <p:cNvSpPr/>
          <p:nvPr/>
        </p:nvSpPr>
        <p:spPr>
          <a:xfrm>
            <a:off x="6238875" y="18124015"/>
            <a:ext cx="1238250" cy="38086"/>
          </a:xfrm>
          <a:prstGeom prst="roundRect">
            <a:avLst>
              <a:gd name="adj" fmla="val 50001"/>
            </a:avLst>
          </a:prstGeom>
          <a:solidFill>
            <a:srgbClr val="141C2D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2026-05-23T16:31:10Z</dcterms:created>
  <dcterms:modified xsi:type="dcterms:W3CDTF">2026-05-23T16:31:10Z</dcterms:modified>
</cp:coreProperties>
</file>